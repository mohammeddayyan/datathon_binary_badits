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Calibri" panose="020F0502020204030204" pitchFamily="34" charset="0"/>
      <p:regular r:id="rId13"/>
      <p:bold r:id="rId14"/>
      <p:italic r:id="rId15"/>
      <p:boldItalic r:id="rId16"/>
    </p:embeddedFont>
    <p:embeddedFont>
      <p:font typeface="Inter" panose="020B0604020202020204" charset="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0" d="100"/>
          <a:sy n="60" d="100"/>
        </p:scale>
        <p:origin x="66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152804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ECEC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8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ECEC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8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ECEC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8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ECEC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8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ECEC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8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ECEC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8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ECEC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8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ECEC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8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ECEC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8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ECEC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8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.png"/><Relationship Id="rId4" Type="http://schemas.openxmlformats.org/officeDocument/2006/relationships/image" Target="../media/image-2-2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.png"/><Relationship Id="rId5" Type="http://schemas.openxmlformats.org/officeDocument/2006/relationships/image" Target="../media/image-3-4.sv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-4-2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-5-8.svg"/><Relationship Id="rId3" Type="http://schemas.openxmlformats.org/officeDocument/2006/relationships/image" Target="../media/image5.png"/><Relationship Id="rId7" Type="http://schemas.openxmlformats.org/officeDocument/2006/relationships/image" Target="../media/image-5-6.svg"/><Relationship Id="rId12" Type="http://schemas.openxmlformats.org/officeDocument/2006/relationships/image" Target="../media/image-5-12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10" Type="http://schemas.openxmlformats.org/officeDocument/2006/relationships/image" Target="../media/image-5-10.svg"/><Relationship Id="rId4" Type="http://schemas.openxmlformats.org/officeDocument/2006/relationships/image" Target="../media/image-5-2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5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-6-2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8.jpeg"/><Relationship Id="rId5" Type="http://schemas.openxmlformats.org/officeDocument/2006/relationships/image" Target="../media/image-7-4.sv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5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-8-2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4.png"/><Relationship Id="rId5" Type="http://schemas.openxmlformats.org/officeDocument/2006/relationships/image" Target="../media/image21.png"/><Relationship Id="rId4" Type="http://schemas.openxmlformats.org/officeDocument/2006/relationships/image" Target="../media/image-9-2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-10-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144000" y="0"/>
            <a:ext cx="5486400" cy="8229600"/>
          </a:xfrm>
          <a:prstGeom prst="rect">
            <a:avLst/>
          </a:prstGeom>
          <a:solidFill>
            <a:srgbClr val="DFDFE0"/>
          </a:solidFill>
          <a:ln/>
        </p:spPr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0" y="32084"/>
            <a:ext cx="5486400" cy="82296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93790" y="2535674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1388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Dehaze it!!</a:t>
            </a:r>
            <a:endParaRPr lang="en-US" sz="4450" dirty="0"/>
          </a:p>
        </p:txBody>
      </p:sp>
      <p:sp>
        <p:nvSpPr>
          <p:cNvPr id="6" name="Text 2"/>
          <p:cNvSpPr/>
          <p:nvPr/>
        </p:nvSpPr>
        <p:spPr>
          <a:xfrm>
            <a:off x="793790" y="3335179"/>
            <a:ext cx="4689872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31388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Team: Binary Bandits</a:t>
            </a:r>
            <a:endParaRPr lang="en-US" sz="3550" dirty="0"/>
          </a:p>
        </p:txBody>
      </p:sp>
      <p:sp>
        <p:nvSpPr>
          <p:cNvPr id="7" name="Text 3"/>
          <p:cNvSpPr/>
          <p:nvPr/>
        </p:nvSpPr>
        <p:spPr>
          <a:xfrm>
            <a:off x="793790" y="4242316"/>
            <a:ext cx="7556421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13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 restore clarity to outdoor and aerial photos by removing atmospheric haze while preserving natural color and detail — fast, robust dehazing for photography, remote sensing, and computer vision workflows.</a:t>
            </a:r>
            <a:endParaRPr lang="en-US" sz="1750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36412" y="1299091"/>
            <a:ext cx="6393988" cy="58864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-1" y="6769768"/>
            <a:ext cx="810126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 smtClean="0"/>
              <a:t>By :- </a:t>
            </a:r>
            <a:r>
              <a:rPr lang="en-US" sz="1600" b="1" dirty="0" err="1" smtClean="0"/>
              <a:t>Mohd</a:t>
            </a:r>
            <a:r>
              <a:rPr lang="en-US" sz="1600" b="1" dirty="0" smtClean="0"/>
              <a:t>. </a:t>
            </a:r>
            <a:r>
              <a:rPr lang="en-US" sz="1600" b="1" dirty="0" err="1" smtClean="0"/>
              <a:t>Dayyan</a:t>
            </a:r>
            <a:r>
              <a:rPr lang="en-US" sz="1600" b="1" dirty="0" smtClean="0"/>
              <a:t>(123ad0054), Aditya Seth(523cs0018) </a:t>
            </a:r>
            <a:r>
              <a:rPr lang="en-US" sz="1600" b="1" dirty="0" smtClean="0"/>
              <a:t>and Syed </a:t>
            </a:r>
            <a:r>
              <a:rPr lang="en-US" sz="1600" b="1" dirty="0" err="1" smtClean="0"/>
              <a:t>Aftab</a:t>
            </a:r>
            <a:r>
              <a:rPr lang="en-US" sz="1600" b="1" dirty="0" smtClean="0"/>
              <a:t>(123cs0068)</a:t>
            </a:r>
            <a:endParaRPr lang="en-US" sz="1600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8183" y="748546"/>
            <a:ext cx="2240637" cy="359331"/>
          </a:xfrm>
          <a:prstGeom prst="roundRect">
            <a:avLst>
              <a:gd name="adj" fmla="val 18654"/>
            </a:avLst>
          </a:prstGeom>
          <a:solidFill>
            <a:srgbClr val="E3F1DA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817840" y="848439"/>
            <a:ext cx="159544" cy="1595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7156" y="808315"/>
            <a:ext cx="1762006" cy="2397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250" dirty="0">
                <a:solidFill>
                  <a:srgbClr val="313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 OBJECTIVES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698183" y="1178004"/>
            <a:ext cx="5600700" cy="6234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900"/>
              </a:lnSpc>
              <a:buNone/>
            </a:pPr>
            <a:r>
              <a:rPr lang="en-US" sz="3900" b="1" dirty="0">
                <a:solidFill>
                  <a:srgbClr val="31388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PROJECT OBJECTIVES</a:t>
            </a:r>
            <a:endParaRPr lang="en-US" sz="39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12476" y="3043476"/>
            <a:ext cx="228600" cy="2286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88432" y="3366135"/>
            <a:ext cx="2076807" cy="1603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250"/>
              </a:lnSpc>
              <a:buNone/>
            </a:pPr>
            <a:r>
              <a:rPr lang="en-US" sz="800" dirty="0">
                <a:solidFill>
                  <a:srgbClr val="AEAE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There was an error generating this image</a:t>
            </a:r>
            <a:endParaRPr lang="en-US" sz="800" dirty="0"/>
          </a:p>
        </p:txBody>
      </p:sp>
      <p:sp>
        <p:nvSpPr>
          <p:cNvPr id="9" name="Text 5"/>
          <p:cNvSpPr/>
          <p:nvPr/>
        </p:nvSpPr>
        <p:spPr>
          <a:xfrm>
            <a:off x="3449955" y="2239923"/>
            <a:ext cx="2992279" cy="373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50" b="1" dirty="0">
                <a:solidFill>
                  <a:srgbClr val="31388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Primary Goals:</a:t>
            </a:r>
            <a:endParaRPr lang="en-US" sz="2350" dirty="0"/>
          </a:p>
        </p:txBody>
      </p:sp>
      <p:sp>
        <p:nvSpPr>
          <p:cNvPr id="10" name="Text 6"/>
          <p:cNvSpPr/>
          <p:nvPr/>
        </p:nvSpPr>
        <p:spPr>
          <a:xfrm>
            <a:off x="3449955" y="2789277"/>
            <a:ext cx="10489883" cy="13841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550" dirty="0">
                <a:solidFill>
                  <a:srgbClr val="313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Remove atmospheric haze, fog, and smog from digital images</a:t>
            </a:r>
            <a:endParaRPr lang="en-US" sz="1550" dirty="0"/>
          </a:p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550" dirty="0">
                <a:solidFill>
                  <a:srgbClr val="313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Preserve image quality and fine details during dehazing</a:t>
            </a:r>
            <a:endParaRPr lang="en-US" sz="1550" dirty="0"/>
          </a:p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550" dirty="0">
                <a:solidFill>
                  <a:srgbClr val="313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Provide real-time processing through web interface</a:t>
            </a:r>
            <a:endParaRPr lang="en-US" sz="1550" dirty="0"/>
          </a:p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550" dirty="0">
                <a:solidFill>
                  <a:srgbClr val="313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Implement professional-grade algorithms for accurate results</a:t>
            </a:r>
            <a:endParaRPr lang="en-US" sz="1550" dirty="0"/>
          </a:p>
        </p:txBody>
      </p:sp>
      <p:sp>
        <p:nvSpPr>
          <p:cNvPr id="11" name="Text 7"/>
          <p:cNvSpPr/>
          <p:nvPr/>
        </p:nvSpPr>
        <p:spPr>
          <a:xfrm>
            <a:off x="3449955" y="4348758"/>
            <a:ext cx="2992279" cy="373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50" b="1" dirty="0">
                <a:solidFill>
                  <a:srgbClr val="31388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Key Features:</a:t>
            </a:r>
            <a:endParaRPr lang="en-US" sz="2350" dirty="0"/>
          </a:p>
        </p:txBody>
      </p:sp>
      <p:sp>
        <p:nvSpPr>
          <p:cNvPr id="12" name="Text 8"/>
          <p:cNvSpPr/>
          <p:nvPr/>
        </p:nvSpPr>
        <p:spPr>
          <a:xfrm>
            <a:off x="3449955" y="4898112"/>
            <a:ext cx="10489883" cy="25215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5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✅</a:t>
            </a:r>
            <a:r>
              <a:rPr lang="en-US" sz="1550" dirty="0">
                <a:solidFill>
                  <a:srgbClr val="313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DehazeNet Deep Learning Model Implementation</a:t>
            </a:r>
            <a:endParaRPr lang="en-US" sz="1550" dirty="0"/>
          </a:p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5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✅</a:t>
            </a:r>
            <a:r>
              <a:rPr lang="en-US" sz="1550" dirty="0">
                <a:solidFill>
                  <a:srgbClr val="313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AOD-Net (All-in-One Dehazing Network) Integration</a:t>
            </a:r>
            <a:endParaRPr lang="en-US" sz="1550" dirty="0"/>
          </a:p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5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✅</a:t>
            </a:r>
            <a:r>
              <a:rPr lang="en-US" sz="1550" dirty="0">
                <a:solidFill>
                  <a:srgbClr val="313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Dark Channel Prior algorithm for traditional processing</a:t>
            </a:r>
            <a:endParaRPr lang="en-US" sz="1550" dirty="0"/>
          </a:p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5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✅</a:t>
            </a:r>
            <a:r>
              <a:rPr lang="en-US" sz="1550" dirty="0">
                <a:solidFill>
                  <a:srgbClr val="313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Guided filtering for transmission map refinement</a:t>
            </a:r>
            <a:endParaRPr lang="en-US" sz="1550" dirty="0"/>
          </a:p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5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✅</a:t>
            </a:r>
            <a:r>
              <a:rPr lang="en-US" sz="1550" dirty="0">
                <a:solidFill>
                  <a:srgbClr val="313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Atmospheric light estimation</a:t>
            </a:r>
            <a:endParaRPr lang="en-US" sz="1550" dirty="0"/>
          </a:p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5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✅</a:t>
            </a:r>
            <a:r>
              <a:rPr lang="en-US" sz="1550" dirty="0">
                <a:solidFill>
                  <a:srgbClr val="313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Scene radiance recovery</a:t>
            </a:r>
            <a:endParaRPr lang="en-US" sz="1550" dirty="0"/>
          </a:p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5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✅</a:t>
            </a:r>
            <a:r>
              <a:rPr lang="en-US" sz="1550" dirty="0">
                <a:solidFill>
                  <a:srgbClr val="313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Professional metrics calculation (PSNR, SSIM, MSE, Detail Preservation)</a:t>
            </a:r>
            <a:endParaRPr lang="en-US" sz="1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11710273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144000" y="0"/>
            <a:ext cx="5486400" cy="11710273"/>
          </a:xfrm>
          <a:prstGeom prst="rect">
            <a:avLst/>
          </a:prstGeom>
          <a:solidFill>
            <a:srgbClr val="DFDFE0"/>
          </a:solidFill>
          <a:ln/>
        </p:spPr>
      </p:sp>
      <p:sp>
        <p:nvSpPr>
          <p:cNvPr id="5" name="Shape 1"/>
          <p:cNvSpPr/>
          <p:nvPr/>
        </p:nvSpPr>
        <p:spPr>
          <a:xfrm>
            <a:off x="659249" y="311825"/>
            <a:ext cx="1366242" cy="176689"/>
          </a:xfrm>
          <a:prstGeom prst="roundRect">
            <a:avLst>
              <a:gd name="adj" fmla="val 21567"/>
            </a:avLst>
          </a:prstGeom>
          <a:solidFill>
            <a:srgbClr val="E3F1DA"/>
          </a:solidFill>
          <a:ln/>
        </p:spPr>
      </p:sp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727234" y="354806"/>
            <a:ext cx="90726" cy="90726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863322" y="345758"/>
            <a:ext cx="1094184" cy="1088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50"/>
              </a:lnSpc>
              <a:buNone/>
            </a:pPr>
            <a:r>
              <a:rPr lang="en-US" sz="700" dirty="0">
                <a:solidFill>
                  <a:srgbClr val="313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SYSTEM ARCHITECTURE</a:t>
            </a:r>
            <a:endParaRPr lang="en-US" sz="700" dirty="0"/>
          </a:p>
        </p:txBody>
      </p:sp>
      <p:sp>
        <p:nvSpPr>
          <p:cNvPr id="8" name="Text 3"/>
          <p:cNvSpPr/>
          <p:nvPr/>
        </p:nvSpPr>
        <p:spPr>
          <a:xfrm>
            <a:off x="659249" y="511135"/>
            <a:ext cx="349281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1388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SYSTEM ARCHITECTURE</a:t>
            </a:r>
            <a:endParaRPr lang="en-US" sz="2200" dirty="0"/>
          </a:p>
        </p:txBody>
      </p:sp>
      <p:sp>
        <p:nvSpPr>
          <p:cNvPr id="9" name="Text 4"/>
          <p:cNvSpPr/>
          <p:nvPr/>
        </p:nvSpPr>
        <p:spPr>
          <a:xfrm>
            <a:off x="659249" y="1007150"/>
            <a:ext cx="1883331" cy="212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b="1" dirty="0">
                <a:solidFill>
                  <a:srgbClr val="31388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Backend Components:</a:t>
            </a:r>
            <a:endParaRPr lang="en-US" sz="1300" dirty="0"/>
          </a:p>
        </p:txBody>
      </p:sp>
      <p:sp>
        <p:nvSpPr>
          <p:cNvPr id="10" name="Text 5"/>
          <p:cNvSpPr/>
          <p:nvPr/>
        </p:nvSpPr>
        <p:spPr>
          <a:xfrm>
            <a:off x="659249" y="1276469"/>
            <a:ext cx="3774400" cy="12270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050"/>
              </a:lnSpc>
              <a:buSzPct val="100000"/>
              <a:buChar char="•"/>
            </a:pPr>
            <a:r>
              <a:rPr lang="en-US" sz="850" dirty="0">
                <a:solidFill>
                  <a:srgbClr val="313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Python HTTP Server (http.server, socketserver)</a:t>
            </a:r>
            <a:endParaRPr lang="en-US" sz="850" dirty="0"/>
          </a:p>
          <a:p>
            <a:pPr marL="342900" indent="-342900" algn="l">
              <a:lnSpc>
                <a:spcPts val="1050"/>
              </a:lnSpc>
              <a:buSzPct val="100000"/>
              <a:buChar char="•"/>
            </a:pPr>
            <a:r>
              <a:rPr lang="en-US" sz="850" dirty="0">
                <a:solidFill>
                  <a:srgbClr val="313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OpenCV for image processing and filtering</a:t>
            </a:r>
            <a:endParaRPr lang="en-US" sz="850" dirty="0"/>
          </a:p>
          <a:p>
            <a:pPr marL="342900" indent="-342900" algn="l">
              <a:lnSpc>
                <a:spcPts val="1050"/>
              </a:lnSpc>
              <a:buSzPct val="100000"/>
              <a:buChar char="•"/>
            </a:pPr>
            <a:r>
              <a:rPr lang="en-US" sz="850" dirty="0">
                <a:solidFill>
                  <a:srgbClr val="313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PIL/Pillow for image manipulation</a:t>
            </a:r>
            <a:endParaRPr lang="en-US" sz="850" dirty="0"/>
          </a:p>
          <a:p>
            <a:pPr marL="342900" indent="-342900" algn="l">
              <a:lnSpc>
                <a:spcPts val="1050"/>
              </a:lnSpc>
              <a:buSzPct val="100000"/>
              <a:buChar char="•"/>
            </a:pPr>
            <a:r>
              <a:rPr lang="en-US" sz="850" dirty="0">
                <a:solidFill>
                  <a:srgbClr val="313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NumPy for numerical computations</a:t>
            </a:r>
            <a:endParaRPr lang="en-US" sz="850" dirty="0"/>
          </a:p>
          <a:p>
            <a:pPr marL="342900" indent="-342900" algn="l">
              <a:lnSpc>
                <a:spcPts val="1050"/>
              </a:lnSpc>
              <a:buSzPct val="100000"/>
              <a:buChar char="•"/>
            </a:pPr>
            <a:r>
              <a:rPr lang="en-US" sz="850" dirty="0">
                <a:solidFill>
                  <a:srgbClr val="313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SciPy for advanced image analysis</a:t>
            </a:r>
            <a:endParaRPr lang="en-US" sz="850" dirty="0"/>
          </a:p>
          <a:p>
            <a:pPr marL="342900" indent="-342900" algn="l">
              <a:lnSpc>
                <a:spcPts val="1050"/>
              </a:lnSpc>
              <a:buSzPct val="100000"/>
              <a:buChar char="•"/>
            </a:pPr>
            <a:r>
              <a:rPr lang="en-US" sz="850" dirty="0">
                <a:solidFill>
                  <a:srgbClr val="313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Deep Learning Framework Integration (PyTorch/TensorFlow)</a:t>
            </a:r>
            <a:endParaRPr lang="en-US" sz="850" dirty="0"/>
          </a:p>
          <a:p>
            <a:pPr marL="342900" indent="-342900" algn="l">
              <a:lnSpc>
                <a:spcPts val="1050"/>
              </a:lnSpc>
              <a:buSzPct val="100000"/>
              <a:buChar char="•"/>
            </a:pPr>
            <a:r>
              <a:rPr lang="en-US" sz="850" dirty="0">
                <a:solidFill>
                  <a:srgbClr val="313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Pre-trained DehazeNet Model Architecture</a:t>
            </a:r>
            <a:endParaRPr lang="en-US" sz="850" dirty="0"/>
          </a:p>
          <a:p>
            <a:pPr marL="342900" indent="-342900" algn="l">
              <a:lnSpc>
                <a:spcPts val="1050"/>
              </a:lnSpc>
              <a:buSzPct val="100000"/>
              <a:buChar char="•"/>
            </a:pPr>
            <a:r>
              <a:rPr lang="en-US" sz="850" dirty="0">
                <a:solidFill>
                  <a:srgbClr val="313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AOD-Net Model for End-to-End Dehazing</a:t>
            </a:r>
            <a:endParaRPr lang="en-US" sz="850" dirty="0"/>
          </a:p>
        </p:txBody>
      </p:sp>
      <p:sp>
        <p:nvSpPr>
          <p:cNvPr id="11" name="Text 6"/>
          <p:cNvSpPr/>
          <p:nvPr/>
        </p:nvSpPr>
        <p:spPr>
          <a:xfrm>
            <a:off x="4717971" y="1007150"/>
            <a:ext cx="1909524" cy="212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b="1" dirty="0">
                <a:solidFill>
                  <a:srgbClr val="31388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Frontend Components:</a:t>
            </a:r>
            <a:endParaRPr lang="en-US" sz="1300" dirty="0"/>
          </a:p>
        </p:txBody>
      </p:sp>
      <p:sp>
        <p:nvSpPr>
          <p:cNvPr id="12" name="Text 7"/>
          <p:cNvSpPr/>
          <p:nvPr/>
        </p:nvSpPr>
        <p:spPr>
          <a:xfrm>
            <a:off x="4717971" y="1276469"/>
            <a:ext cx="3774400" cy="75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050"/>
              </a:lnSpc>
              <a:buSzPct val="100000"/>
              <a:buChar char="•"/>
            </a:pPr>
            <a:r>
              <a:rPr lang="en-US" sz="850" dirty="0">
                <a:solidFill>
                  <a:srgbClr val="313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Modern HTML5/CSS3 Interface</a:t>
            </a:r>
            <a:endParaRPr lang="en-US" sz="850" dirty="0"/>
          </a:p>
          <a:p>
            <a:pPr marL="342900" indent="-342900" algn="l">
              <a:lnSpc>
                <a:spcPts val="1050"/>
              </a:lnSpc>
              <a:buSzPct val="100000"/>
              <a:buChar char="•"/>
            </a:pPr>
            <a:r>
              <a:rPr lang="en-US" sz="850" dirty="0">
                <a:solidFill>
                  <a:srgbClr val="313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Responsive design with CSS Grid/Flexbox</a:t>
            </a:r>
            <a:endParaRPr lang="en-US" sz="850" dirty="0"/>
          </a:p>
          <a:p>
            <a:pPr marL="342900" indent="-342900" algn="l">
              <a:lnSpc>
                <a:spcPts val="1050"/>
              </a:lnSpc>
              <a:buSzPct val="100000"/>
              <a:buChar char="•"/>
            </a:pPr>
            <a:r>
              <a:rPr lang="en-US" sz="850" dirty="0">
                <a:solidFill>
                  <a:srgbClr val="313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JavaScript for client-side interactions</a:t>
            </a:r>
            <a:endParaRPr lang="en-US" sz="850" dirty="0"/>
          </a:p>
          <a:p>
            <a:pPr marL="342900" indent="-342900" algn="l">
              <a:lnSpc>
                <a:spcPts val="1050"/>
              </a:lnSpc>
              <a:buSzPct val="100000"/>
              <a:buChar char="•"/>
            </a:pPr>
            <a:r>
              <a:rPr lang="en-US" sz="850" dirty="0">
                <a:solidFill>
                  <a:srgbClr val="313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Drag &amp; drop file upload functionality</a:t>
            </a:r>
            <a:endParaRPr lang="en-US" sz="850" dirty="0"/>
          </a:p>
          <a:p>
            <a:pPr marL="342900" indent="-342900" algn="l">
              <a:lnSpc>
                <a:spcPts val="1050"/>
              </a:lnSpc>
              <a:buSzPct val="100000"/>
              <a:buChar char="•"/>
            </a:pPr>
            <a:r>
              <a:rPr lang="en-US" sz="850" dirty="0">
                <a:solidFill>
                  <a:srgbClr val="313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Real-time processing feedback</a:t>
            </a:r>
            <a:endParaRPr lang="en-US" sz="850" dirty="0"/>
          </a:p>
        </p:txBody>
      </p:sp>
      <p:sp>
        <p:nvSpPr>
          <p:cNvPr id="13" name="Text 8"/>
          <p:cNvSpPr/>
          <p:nvPr/>
        </p:nvSpPr>
        <p:spPr>
          <a:xfrm>
            <a:off x="659249" y="2608302"/>
            <a:ext cx="1701165" cy="212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b="1" dirty="0">
                <a:solidFill>
                  <a:srgbClr val="31388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Algorithm Pipeline: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659249" y="2905958"/>
            <a:ext cx="113348" cy="141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313886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01</a:t>
            </a:r>
            <a:endParaRPr lang="en-US" sz="850" dirty="0"/>
          </a:p>
        </p:txBody>
      </p:sp>
      <p:sp>
        <p:nvSpPr>
          <p:cNvPr id="15" name="Shape 10"/>
          <p:cNvSpPr/>
          <p:nvPr/>
        </p:nvSpPr>
        <p:spPr>
          <a:xfrm>
            <a:off x="659249" y="3083362"/>
            <a:ext cx="7825502" cy="15240"/>
          </a:xfrm>
          <a:prstGeom prst="rect">
            <a:avLst/>
          </a:prstGeom>
          <a:solidFill>
            <a:srgbClr val="73BA45"/>
          </a:solidFill>
          <a:ln/>
        </p:spPr>
      </p:sp>
      <p:sp>
        <p:nvSpPr>
          <p:cNvPr id="16" name="Text 11"/>
          <p:cNvSpPr/>
          <p:nvPr/>
        </p:nvSpPr>
        <p:spPr>
          <a:xfrm>
            <a:off x="659249" y="3170515"/>
            <a:ext cx="7825502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313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DehazeNet Deep Learning Processing (Primary)</a:t>
            </a:r>
            <a:endParaRPr lang="en-US" sz="850" dirty="0"/>
          </a:p>
        </p:txBody>
      </p:sp>
      <p:sp>
        <p:nvSpPr>
          <p:cNvPr id="17" name="Text 12"/>
          <p:cNvSpPr/>
          <p:nvPr/>
        </p:nvSpPr>
        <p:spPr>
          <a:xfrm>
            <a:off x="659249" y="3448288"/>
            <a:ext cx="113348" cy="141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313886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02</a:t>
            </a:r>
            <a:endParaRPr lang="en-US" sz="850" dirty="0"/>
          </a:p>
        </p:txBody>
      </p:sp>
      <p:sp>
        <p:nvSpPr>
          <p:cNvPr id="18" name="Shape 13"/>
          <p:cNvSpPr/>
          <p:nvPr/>
        </p:nvSpPr>
        <p:spPr>
          <a:xfrm>
            <a:off x="659249" y="3625691"/>
            <a:ext cx="7825502" cy="15240"/>
          </a:xfrm>
          <a:prstGeom prst="rect">
            <a:avLst/>
          </a:prstGeom>
          <a:solidFill>
            <a:srgbClr val="73BA45"/>
          </a:solidFill>
          <a:ln/>
        </p:spPr>
      </p:sp>
      <p:sp>
        <p:nvSpPr>
          <p:cNvPr id="19" name="Text 14"/>
          <p:cNvSpPr/>
          <p:nvPr/>
        </p:nvSpPr>
        <p:spPr>
          <a:xfrm>
            <a:off x="659249" y="3712845"/>
            <a:ext cx="7825502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313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AOD-Net End-to-End Dehazing (Alternative)</a:t>
            </a:r>
            <a:endParaRPr lang="en-US" sz="850" dirty="0"/>
          </a:p>
        </p:txBody>
      </p:sp>
      <p:sp>
        <p:nvSpPr>
          <p:cNvPr id="20" name="Text 15"/>
          <p:cNvSpPr/>
          <p:nvPr/>
        </p:nvSpPr>
        <p:spPr>
          <a:xfrm>
            <a:off x="659249" y="3990618"/>
            <a:ext cx="113348" cy="141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313886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03</a:t>
            </a:r>
            <a:endParaRPr lang="en-US" sz="850" dirty="0"/>
          </a:p>
        </p:txBody>
      </p:sp>
      <p:sp>
        <p:nvSpPr>
          <p:cNvPr id="21" name="Shape 16"/>
          <p:cNvSpPr/>
          <p:nvPr/>
        </p:nvSpPr>
        <p:spPr>
          <a:xfrm>
            <a:off x="659249" y="4168021"/>
            <a:ext cx="7825502" cy="15240"/>
          </a:xfrm>
          <a:prstGeom prst="rect">
            <a:avLst/>
          </a:prstGeom>
          <a:solidFill>
            <a:srgbClr val="73BA45"/>
          </a:solidFill>
          <a:ln/>
        </p:spPr>
      </p:sp>
      <p:sp>
        <p:nvSpPr>
          <p:cNvPr id="22" name="Text 17"/>
          <p:cNvSpPr/>
          <p:nvPr/>
        </p:nvSpPr>
        <p:spPr>
          <a:xfrm>
            <a:off x="659249" y="4255175"/>
            <a:ext cx="7825502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313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Dark Channel Prior Computation (Traditional)</a:t>
            </a:r>
            <a:endParaRPr lang="en-US" sz="850" dirty="0"/>
          </a:p>
        </p:txBody>
      </p:sp>
      <p:sp>
        <p:nvSpPr>
          <p:cNvPr id="23" name="Text 18"/>
          <p:cNvSpPr/>
          <p:nvPr/>
        </p:nvSpPr>
        <p:spPr>
          <a:xfrm>
            <a:off x="659249" y="4532948"/>
            <a:ext cx="113348" cy="141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313886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04</a:t>
            </a:r>
            <a:endParaRPr lang="en-US" sz="850" dirty="0"/>
          </a:p>
        </p:txBody>
      </p:sp>
      <p:sp>
        <p:nvSpPr>
          <p:cNvPr id="24" name="Shape 19"/>
          <p:cNvSpPr/>
          <p:nvPr/>
        </p:nvSpPr>
        <p:spPr>
          <a:xfrm>
            <a:off x="659249" y="4710351"/>
            <a:ext cx="7825502" cy="15240"/>
          </a:xfrm>
          <a:prstGeom prst="rect">
            <a:avLst/>
          </a:prstGeom>
          <a:solidFill>
            <a:srgbClr val="73BA45"/>
          </a:solidFill>
          <a:ln/>
        </p:spPr>
      </p:sp>
      <p:sp>
        <p:nvSpPr>
          <p:cNvPr id="25" name="Text 20"/>
          <p:cNvSpPr/>
          <p:nvPr/>
        </p:nvSpPr>
        <p:spPr>
          <a:xfrm>
            <a:off x="659249" y="4797504"/>
            <a:ext cx="7825502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313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Atmospheric Light Estimation</a:t>
            </a:r>
            <a:endParaRPr lang="en-US" sz="850" dirty="0"/>
          </a:p>
        </p:txBody>
      </p:sp>
      <p:sp>
        <p:nvSpPr>
          <p:cNvPr id="26" name="Text 21"/>
          <p:cNvSpPr/>
          <p:nvPr/>
        </p:nvSpPr>
        <p:spPr>
          <a:xfrm>
            <a:off x="659249" y="5075277"/>
            <a:ext cx="113348" cy="141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313886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05</a:t>
            </a:r>
            <a:endParaRPr lang="en-US" sz="850" dirty="0"/>
          </a:p>
        </p:txBody>
      </p:sp>
      <p:sp>
        <p:nvSpPr>
          <p:cNvPr id="27" name="Shape 22"/>
          <p:cNvSpPr/>
          <p:nvPr/>
        </p:nvSpPr>
        <p:spPr>
          <a:xfrm>
            <a:off x="659249" y="5252680"/>
            <a:ext cx="7825502" cy="15240"/>
          </a:xfrm>
          <a:prstGeom prst="rect">
            <a:avLst/>
          </a:prstGeom>
          <a:solidFill>
            <a:srgbClr val="73BA45"/>
          </a:solidFill>
          <a:ln/>
        </p:spPr>
      </p:sp>
      <p:sp>
        <p:nvSpPr>
          <p:cNvPr id="28" name="Text 23"/>
          <p:cNvSpPr/>
          <p:nvPr/>
        </p:nvSpPr>
        <p:spPr>
          <a:xfrm>
            <a:off x="659249" y="5339834"/>
            <a:ext cx="7825502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313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Transmission Map Calculation</a:t>
            </a:r>
            <a:endParaRPr lang="en-US" sz="850" dirty="0"/>
          </a:p>
        </p:txBody>
      </p:sp>
      <p:sp>
        <p:nvSpPr>
          <p:cNvPr id="29" name="Text 24"/>
          <p:cNvSpPr/>
          <p:nvPr/>
        </p:nvSpPr>
        <p:spPr>
          <a:xfrm>
            <a:off x="659249" y="5617607"/>
            <a:ext cx="113348" cy="141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313886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06</a:t>
            </a:r>
            <a:endParaRPr lang="en-US" sz="850" dirty="0"/>
          </a:p>
        </p:txBody>
      </p:sp>
      <p:sp>
        <p:nvSpPr>
          <p:cNvPr id="30" name="Shape 25"/>
          <p:cNvSpPr/>
          <p:nvPr/>
        </p:nvSpPr>
        <p:spPr>
          <a:xfrm>
            <a:off x="659249" y="5795010"/>
            <a:ext cx="7825502" cy="15240"/>
          </a:xfrm>
          <a:prstGeom prst="rect">
            <a:avLst/>
          </a:prstGeom>
          <a:solidFill>
            <a:srgbClr val="73BA45"/>
          </a:solidFill>
          <a:ln/>
        </p:spPr>
      </p:sp>
      <p:sp>
        <p:nvSpPr>
          <p:cNvPr id="31" name="Text 26"/>
          <p:cNvSpPr/>
          <p:nvPr/>
        </p:nvSpPr>
        <p:spPr>
          <a:xfrm>
            <a:off x="659249" y="5882164"/>
            <a:ext cx="7825502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313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Guided Filter Refinement</a:t>
            </a:r>
            <a:endParaRPr lang="en-US" sz="850" dirty="0"/>
          </a:p>
        </p:txBody>
      </p:sp>
      <p:sp>
        <p:nvSpPr>
          <p:cNvPr id="32" name="Text 27"/>
          <p:cNvSpPr/>
          <p:nvPr/>
        </p:nvSpPr>
        <p:spPr>
          <a:xfrm>
            <a:off x="659249" y="6159937"/>
            <a:ext cx="113348" cy="141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313886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07</a:t>
            </a:r>
            <a:endParaRPr lang="en-US" sz="850" dirty="0"/>
          </a:p>
        </p:txBody>
      </p:sp>
      <p:sp>
        <p:nvSpPr>
          <p:cNvPr id="33" name="Shape 28"/>
          <p:cNvSpPr/>
          <p:nvPr/>
        </p:nvSpPr>
        <p:spPr>
          <a:xfrm>
            <a:off x="659249" y="6337340"/>
            <a:ext cx="7825502" cy="15240"/>
          </a:xfrm>
          <a:prstGeom prst="rect">
            <a:avLst/>
          </a:prstGeom>
          <a:solidFill>
            <a:srgbClr val="73BA45"/>
          </a:solidFill>
          <a:ln/>
        </p:spPr>
      </p:sp>
      <p:sp>
        <p:nvSpPr>
          <p:cNvPr id="34" name="Text 29"/>
          <p:cNvSpPr/>
          <p:nvPr/>
        </p:nvSpPr>
        <p:spPr>
          <a:xfrm>
            <a:off x="659249" y="6424493"/>
            <a:ext cx="7825502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313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Scene Radiance Recovery</a:t>
            </a:r>
            <a:endParaRPr lang="en-US" sz="850" dirty="0"/>
          </a:p>
        </p:txBody>
      </p:sp>
      <p:sp>
        <p:nvSpPr>
          <p:cNvPr id="35" name="Text 30"/>
          <p:cNvSpPr/>
          <p:nvPr/>
        </p:nvSpPr>
        <p:spPr>
          <a:xfrm>
            <a:off x="659249" y="6702266"/>
            <a:ext cx="113348" cy="141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313886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08</a:t>
            </a:r>
            <a:endParaRPr lang="en-US" sz="850" dirty="0"/>
          </a:p>
        </p:txBody>
      </p:sp>
      <p:sp>
        <p:nvSpPr>
          <p:cNvPr id="36" name="Shape 31"/>
          <p:cNvSpPr/>
          <p:nvPr/>
        </p:nvSpPr>
        <p:spPr>
          <a:xfrm>
            <a:off x="659249" y="6879669"/>
            <a:ext cx="7825502" cy="15240"/>
          </a:xfrm>
          <a:prstGeom prst="rect">
            <a:avLst/>
          </a:prstGeom>
          <a:solidFill>
            <a:srgbClr val="73BA45"/>
          </a:solidFill>
          <a:ln/>
        </p:spPr>
      </p:sp>
      <p:sp>
        <p:nvSpPr>
          <p:cNvPr id="37" name="Text 32"/>
          <p:cNvSpPr/>
          <p:nvPr/>
        </p:nvSpPr>
        <p:spPr>
          <a:xfrm>
            <a:off x="659249" y="6966823"/>
            <a:ext cx="7825502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50" b="1" dirty="0">
                <a:solidFill>
                  <a:srgbClr val="313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Quality Enhancement &amp; Post-processing</a:t>
            </a:r>
            <a:endParaRPr lang="en-US" sz="850" dirty="0"/>
          </a:p>
        </p:txBody>
      </p:sp>
      <p:pic>
        <p:nvPicPr>
          <p:cNvPr id="3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9249" y="7251621"/>
            <a:ext cx="7825502" cy="3674864"/>
          </a:xfrm>
          <a:prstGeom prst="rect">
            <a:avLst/>
          </a:prstGeom>
        </p:spPr>
      </p:pic>
      <p:sp>
        <p:nvSpPr>
          <p:cNvPr id="39" name="Text 33"/>
          <p:cNvSpPr/>
          <p:nvPr/>
        </p:nvSpPr>
        <p:spPr>
          <a:xfrm>
            <a:off x="1233385" y="10024344"/>
            <a:ext cx="1717017" cy="2146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650"/>
              </a:lnSpc>
              <a:buNone/>
            </a:pPr>
            <a:r>
              <a:rPr lang="en-US" sz="1350" b="1" dirty="0">
                <a:solidFill>
                  <a:srgbClr val="31388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Client</a:t>
            </a:r>
            <a:endParaRPr lang="en-US" sz="1350" dirty="0"/>
          </a:p>
        </p:txBody>
      </p:sp>
      <p:sp>
        <p:nvSpPr>
          <p:cNvPr id="40" name="Text 34"/>
          <p:cNvSpPr/>
          <p:nvPr/>
        </p:nvSpPr>
        <p:spPr>
          <a:xfrm>
            <a:off x="844194" y="10300022"/>
            <a:ext cx="2106208" cy="1287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000"/>
              </a:lnSpc>
              <a:buNone/>
            </a:pPr>
            <a:r>
              <a:rPr lang="en-US" sz="1050" dirty="0">
                <a:solidFill>
                  <a:srgbClr val="313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Browser uploads image</a:t>
            </a:r>
            <a:endParaRPr lang="en-US" sz="1050" dirty="0"/>
          </a:p>
        </p:txBody>
      </p:sp>
      <p:sp>
        <p:nvSpPr>
          <p:cNvPr id="41" name="Text 35"/>
          <p:cNvSpPr/>
          <p:nvPr/>
        </p:nvSpPr>
        <p:spPr>
          <a:xfrm>
            <a:off x="6246956" y="9425296"/>
            <a:ext cx="1717018" cy="214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50" b="1" dirty="0">
                <a:solidFill>
                  <a:srgbClr val="31388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API Gateway</a:t>
            </a:r>
            <a:endParaRPr lang="en-US" sz="1350" dirty="0"/>
          </a:p>
        </p:txBody>
      </p:sp>
      <p:sp>
        <p:nvSpPr>
          <p:cNvPr id="42" name="Text 36"/>
          <p:cNvSpPr/>
          <p:nvPr/>
        </p:nvSpPr>
        <p:spPr>
          <a:xfrm>
            <a:off x="6246956" y="9700973"/>
            <a:ext cx="2052790" cy="1287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1050" dirty="0">
                <a:solidFill>
                  <a:srgbClr val="313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Route and auth</a:t>
            </a:r>
            <a:endParaRPr lang="en-US" sz="1050" dirty="0"/>
          </a:p>
        </p:txBody>
      </p:sp>
      <p:sp>
        <p:nvSpPr>
          <p:cNvPr id="43" name="Text 37"/>
          <p:cNvSpPr/>
          <p:nvPr/>
        </p:nvSpPr>
        <p:spPr>
          <a:xfrm>
            <a:off x="1233266" y="8879666"/>
            <a:ext cx="1717017" cy="214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650"/>
              </a:lnSpc>
              <a:buNone/>
            </a:pPr>
            <a:r>
              <a:rPr lang="en-US" sz="1350" b="1" dirty="0">
                <a:solidFill>
                  <a:srgbClr val="31388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Load Balancer</a:t>
            </a:r>
            <a:endParaRPr lang="en-US" sz="1350" dirty="0"/>
          </a:p>
        </p:txBody>
      </p:sp>
      <p:sp>
        <p:nvSpPr>
          <p:cNvPr id="44" name="Text 38"/>
          <p:cNvSpPr/>
          <p:nvPr/>
        </p:nvSpPr>
        <p:spPr>
          <a:xfrm>
            <a:off x="844075" y="9155343"/>
            <a:ext cx="2106208" cy="1287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000"/>
              </a:lnSpc>
              <a:buNone/>
            </a:pPr>
            <a:r>
              <a:rPr lang="en-US" sz="1050" dirty="0">
                <a:solidFill>
                  <a:srgbClr val="313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Distribute requests</a:t>
            </a:r>
            <a:endParaRPr lang="en-US" sz="1050" dirty="0"/>
          </a:p>
        </p:txBody>
      </p:sp>
      <p:sp>
        <p:nvSpPr>
          <p:cNvPr id="45" name="Text 39"/>
          <p:cNvSpPr/>
          <p:nvPr/>
        </p:nvSpPr>
        <p:spPr>
          <a:xfrm>
            <a:off x="6246956" y="8170443"/>
            <a:ext cx="1717018" cy="2146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50" b="1" dirty="0">
                <a:solidFill>
                  <a:srgbClr val="31388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Processing Layer</a:t>
            </a:r>
            <a:endParaRPr lang="en-US" sz="1350" dirty="0"/>
          </a:p>
        </p:txBody>
      </p:sp>
      <p:sp>
        <p:nvSpPr>
          <p:cNvPr id="46" name="Text 40"/>
          <p:cNvSpPr/>
          <p:nvPr/>
        </p:nvSpPr>
        <p:spPr>
          <a:xfrm>
            <a:off x="6246956" y="8446120"/>
            <a:ext cx="2052790" cy="2575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1050" dirty="0">
                <a:solidFill>
                  <a:srgbClr val="313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Preproc → Algorithms → Deep GPU</a:t>
            </a:r>
            <a:endParaRPr lang="en-US" sz="1050" dirty="0"/>
          </a:p>
        </p:txBody>
      </p:sp>
      <p:sp>
        <p:nvSpPr>
          <p:cNvPr id="47" name="Text 41"/>
          <p:cNvSpPr/>
          <p:nvPr/>
        </p:nvSpPr>
        <p:spPr>
          <a:xfrm>
            <a:off x="1233385" y="7734988"/>
            <a:ext cx="1717017" cy="214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650"/>
              </a:lnSpc>
              <a:buNone/>
            </a:pPr>
            <a:r>
              <a:rPr lang="en-US" sz="1350" b="1" dirty="0">
                <a:solidFill>
                  <a:srgbClr val="31388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Postprocessing</a:t>
            </a:r>
            <a:endParaRPr lang="en-US" sz="1350" dirty="0"/>
          </a:p>
        </p:txBody>
      </p:sp>
      <p:sp>
        <p:nvSpPr>
          <p:cNvPr id="48" name="Text 42"/>
          <p:cNvSpPr/>
          <p:nvPr/>
        </p:nvSpPr>
        <p:spPr>
          <a:xfrm>
            <a:off x="844194" y="8010665"/>
            <a:ext cx="2106208" cy="1287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000"/>
              </a:lnSpc>
              <a:buNone/>
            </a:pPr>
            <a:r>
              <a:rPr lang="en-US" sz="1050" dirty="0">
                <a:solidFill>
                  <a:srgbClr val="313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Quality metrics and save</a:t>
            </a:r>
            <a:endParaRPr lang="en-US" sz="1050" dirty="0"/>
          </a:p>
        </p:txBody>
      </p:sp>
      <p:sp>
        <p:nvSpPr>
          <p:cNvPr id="49" name="Text 43"/>
          <p:cNvSpPr/>
          <p:nvPr/>
        </p:nvSpPr>
        <p:spPr>
          <a:xfrm>
            <a:off x="659249" y="10990183"/>
            <a:ext cx="7825502" cy="408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313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diagram visualizes the components, data flow and system layers: client upload, API gateway and load balancer, synchronous API path for real-time processing, async queue for heavy GPU jobs, GPU worker pool for DL models, traditional algorithm module, post-processing and metrics, storage, and monitoring/CI.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02449" y="311825"/>
            <a:ext cx="1390531" cy="176689"/>
          </a:xfrm>
          <a:prstGeom prst="roundRect">
            <a:avLst>
              <a:gd name="adj" fmla="val 21567"/>
            </a:avLst>
          </a:prstGeom>
          <a:solidFill>
            <a:srgbClr val="E3F1DA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3470434" y="354806"/>
            <a:ext cx="90726" cy="9072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606522" y="345758"/>
            <a:ext cx="1118473" cy="1088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50"/>
              </a:lnSpc>
              <a:buNone/>
            </a:pPr>
            <a:r>
              <a:rPr lang="en-US" sz="700" dirty="0">
                <a:solidFill>
                  <a:srgbClr val="313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DEEP LEARNING MODELS</a:t>
            </a:r>
            <a:endParaRPr lang="en-US" sz="700" dirty="0"/>
          </a:p>
        </p:txBody>
      </p:sp>
      <p:sp>
        <p:nvSpPr>
          <p:cNvPr id="5" name="Text 2"/>
          <p:cNvSpPr/>
          <p:nvPr/>
        </p:nvSpPr>
        <p:spPr>
          <a:xfrm>
            <a:off x="3402449" y="511135"/>
            <a:ext cx="602670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1388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DEHAZENET &amp; AOD-NET IMPLEMENTATION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3402449" y="1007150"/>
            <a:ext cx="2054543" cy="212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b="1" dirty="0">
                <a:solidFill>
                  <a:srgbClr val="31388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DehazeNet Architecture: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3402449" y="1276469"/>
            <a:ext cx="3774400" cy="6036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050"/>
              </a:lnSpc>
              <a:buSzPct val="100000"/>
              <a:buChar char="•"/>
            </a:pPr>
            <a:r>
              <a:rPr lang="en-US" sz="850" dirty="0">
                <a:solidFill>
                  <a:srgbClr val="313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Convolutional Neural Network for haze removal</a:t>
            </a:r>
            <a:endParaRPr lang="en-US" sz="850" dirty="0"/>
          </a:p>
          <a:p>
            <a:pPr marL="342900" indent="-342900" algn="l">
              <a:lnSpc>
                <a:spcPts val="1050"/>
              </a:lnSpc>
              <a:buSzPct val="100000"/>
              <a:buChar char="•"/>
            </a:pPr>
            <a:r>
              <a:rPr lang="en-US" sz="850" dirty="0">
                <a:solidFill>
                  <a:srgbClr val="313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Multi-scale feature extraction</a:t>
            </a:r>
            <a:endParaRPr lang="en-US" sz="850" dirty="0"/>
          </a:p>
          <a:p>
            <a:pPr marL="342900" indent="-342900" algn="l">
              <a:lnSpc>
                <a:spcPts val="1050"/>
              </a:lnSpc>
              <a:buSzPct val="100000"/>
              <a:buChar char="•"/>
            </a:pPr>
            <a:r>
              <a:rPr lang="en-US" sz="850" dirty="0">
                <a:solidFill>
                  <a:srgbClr val="313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End-to-end trainable dehazing pipeline</a:t>
            </a:r>
            <a:endParaRPr lang="en-US" sz="850" dirty="0"/>
          </a:p>
          <a:p>
            <a:pPr marL="342900" indent="-342900" algn="l">
              <a:lnSpc>
                <a:spcPts val="1050"/>
              </a:lnSpc>
              <a:buSzPct val="100000"/>
              <a:buChar char="•"/>
            </a:pPr>
            <a:r>
              <a:rPr lang="en-US" sz="850" dirty="0">
                <a:solidFill>
                  <a:srgbClr val="313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Pre-trained on large-scale haze datasets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3402449" y="1936790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31388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Key Features: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3402449" y="2170628"/>
            <a:ext cx="3774400" cy="6036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050"/>
              </a:lnSpc>
              <a:buSzPct val="100000"/>
              <a:buChar char="•"/>
            </a:pPr>
            <a:r>
              <a:rPr lang="en-US" sz="8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✅</a:t>
            </a:r>
            <a:r>
              <a:rPr lang="en-US" sz="850" dirty="0">
                <a:solidFill>
                  <a:srgbClr val="313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5-layer convolutional architecture</a:t>
            </a:r>
            <a:endParaRPr lang="en-US" sz="850" dirty="0"/>
          </a:p>
          <a:p>
            <a:pPr marL="342900" indent="-342900" algn="l">
              <a:lnSpc>
                <a:spcPts val="1050"/>
              </a:lnSpc>
              <a:buSzPct val="100000"/>
              <a:buChar char="•"/>
            </a:pPr>
            <a:r>
              <a:rPr lang="en-US" sz="8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✅</a:t>
            </a:r>
            <a:r>
              <a:rPr lang="en-US" sz="850" dirty="0">
                <a:solidFill>
                  <a:srgbClr val="313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Maxout units for non-linear mapping</a:t>
            </a:r>
            <a:endParaRPr lang="en-US" sz="850" dirty="0"/>
          </a:p>
          <a:p>
            <a:pPr marL="342900" indent="-342900" algn="l">
              <a:lnSpc>
                <a:spcPts val="1050"/>
              </a:lnSpc>
              <a:buSzPct val="100000"/>
              <a:buChar char="•"/>
            </a:pPr>
            <a:r>
              <a:rPr lang="en-US" sz="8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✅</a:t>
            </a:r>
            <a:r>
              <a:rPr lang="en-US" sz="850" dirty="0">
                <a:solidFill>
                  <a:srgbClr val="313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Multi-scale feature extraction</a:t>
            </a:r>
            <a:endParaRPr lang="en-US" sz="850" dirty="0"/>
          </a:p>
          <a:p>
            <a:pPr marL="342900" indent="-342900" algn="l">
              <a:lnSpc>
                <a:spcPts val="1050"/>
              </a:lnSpc>
              <a:buSzPct val="100000"/>
              <a:buChar char="•"/>
            </a:pPr>
            <a:r>
              <a:rPr lang="en-US" sz="8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✅</a:t>
            </a:r>
            <a:r>
              <a:rPr lang="en-US" sz="850" dirty="0">
                <a:solidFill>
                  <a:srgbClr val="313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Direct transmission map estimation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461171" y="1007150"/>
            <a:ext cx="3419118" cy="212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b="1" dirty="0">
                <a:solidFill>
                  <a:srgbClr val="31388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AOD-Net (All-in-One Dehazing Network):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461171" y="1276469"/>
            <a:ext cx="3774400" cy="6036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050"/>
              </a:lnSpc>
              <a:buSzPct val="100000"/>
              <a:buChar char="•"/>
            </a:pPr>
            <a:r>
              <a:rPr lang="en-US" sz="850" dirty="0">
                <a:solidFill>
                  <a:srgbClr val="313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Unified model for atmospheric scattering</a:t>
            </a:r>
            <a:endParaRPr lang="en-US" sz="850" dirty="0"/>
          </a:p>
          <a:p>
            <a:pPr marL="342900" indent="-342900" algn="l">
              <a:lnSpc>
                <a:spcPts val="1050"/>
              </a:lnSpc>
              <a:buSzPct val="100000"/>
              <a:buChar char="•"/>
            </a:pPr>
            <a:r>
              <a:rPr lang="en-US" sz="850" dirty="0">
                <a:solidFill>
                  <a:srgbClr val="313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Joint estimation of transmission and atmospheric light</a:t>
            </a:r>
            <a:endParaRPr lang="en-US" sz="850" dirty="0"/>
          </a:p>
          <a:p>
            <a:pPr marL="342900" indent="-342900" algn="l">
              <a:lnSpc>
                <a:spcPts val="1050"/>
              </a:lnSpc>
              <a:buSzPct val="100000"/>
              <a:buChar char="•"/>
            </a:pPr>
            <a:r>
              <a:rPr lang="en-US" sz="850" dirty="0">
                <a:solidFill>
                  <a:srgbClr val="313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Lightweight architecture for real-time processing</a:t>
            </a:r>
            <a:endParaRPr lang="en-US" sz="850" dirty="0"/>
          </a:p>
          <a:p>
            <a:pPr marL="342900" indent="-342900" algn="l">
              <a:lnSpc>
                <a:spcPts val="1050"/>
              </a:lnSpc>
              <a:buSzPct val="100000"/>
              <a:buChar char="•"/>
            </a:pPr>
            <a:r>
              <a:rPr lang="en-US" sz="850" dirty="0">
                <a:solidFill>
                  <a:srgbClr val="313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Superior performance on diverse haze conditions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7461171" y="1936790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31388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Key Features: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7461171" y="2170628"/>
            <a:ext cx="3774400" cy="6036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050"/>
              </a:lnSpc>
              <a:buSzPct val="100000"/>
              <a:buChar char="•"/>
            </a:pPr>
            <a:r>
              <a:rPr lang="en-US" sz="8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✅</a:t>
            </a:r>
            <a:r>
              <a:rPr lang="en-US" sz="850" dirty="0">
                <a:solidFill>
                  <a:srgbClr val="313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Single-pass dehazing</a:t>
            </a:r>
            <a:endParaRPr lang="en-US" sz="850" dirty="0"/>
          </a:p>
          <a:p>
            <a:pPr marL="342900" indent="-342900" algn="l">
              <a:lnSpc>
                <a:spcPts val="1050"/>
              </a:lnSpc>
              <a:buSzPct val="100000"/>
              <a:buChar char="•"/>
            </a:pPr>
            <a:r>
              <a:rPr lang="en-US" sz="8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✅</a:t>
            </a:r>
            <a:r>
              <a:rPr lang="en-US" sz="850" dirty="0">
                <a:solidFill>
                  <a:srgbClr val="313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Compact model design</a:t>
            </a:r>
            <a:endParaRPr lang="en-US" sz="850" dirty="0"/>
          </a:p>
          <a:p>
            <a:pPr marL="342900" indent="-342900" algn="l">
              <a:lnSpc>
                <a:spcPts val="1050"/>
              </a:lnSpc>
              <a:buSzPct val="100000"/>
              <a:buChar char="•"/>
            </a:pPr>
            <a:r>
              <a:rPr lang="en-US" sz="8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✅</a:t>
            </a:r>
            <a:r>
              <a:rPr lang="en-US" sz="850" dirty="0">
                <a:solidFill>
                  <a:srgbClr val="313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Fast inference speed</a:t>
            </a:r>
            <a:endParaRPr lang="en-US" sz="850" dirty="0"/>
          </a:p>
          <a:p>
            <a:pPr marL="342900" indent="-342900" algn="l">
              <a:lnSpc>
                <a:spcPts val="1050"/>
              </a:lnSpc>
              <a:buSzPct val="100000"/>
              <a:buChar char="•"/>
            </a:pPr>
            <a:r>
              <a:rPr lang="en-US" sz="8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✅</a:t>
            </a:r>
            <a:r>
              <a:rPr lang="en-US" sz="850" dirty="0">
                <a:solidFill>
                  <a:srgbClr val="313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High-quality results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3402449" y="2914412"/>
            <a:ext cx="1701165" cy="212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b="1" dirty="0">
                <a:solidFill>
                  <a:srgbClr val="31388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Model Integration: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3402449" y="3183731"/>
            <a:ext cx="3774400" cy="6036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050"/>
              </a:lnSpc>
              <a:buSzPct val="100000"/>
              <a:buChar char="•"/>
            </a:pPr>
            <a:r>
              <a:rPr lang="en-US" sz="850" dirty="0">
                <a:solidFill>
                  <a:srgbClr val="313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PyTorch/TensorFlow backend support</a:t>
            </a:r>
            <a:endParaRPr lang="en-US" sz="850" dirty="0"/>
          </a:p>
          <a:p>
            <a:pPr marL="342900" indent="-342900" algn="l">
              <a:lnSpc>
                <a:spcPts val="1050"/>
              </a:lnSpc>
              <a:buSzPct val="100000"/>
              <a:buChar char="•"/>
            </a:pPr>
            <a:r>
              <a:rPr lang="en-US" sz="850" dirty="0">
                <a:solidFill>
                  <a:srgbClr val="313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Pre-trained weights loading</a:t>
            </a:r>
            <a:endParaRPr lang="en-US" sz="850" dirty="0"/>
          </a:p>
          <a:p>
            <a:pPr marL="342900" indent="-342900" algn="l">
              <a:lnSpc>
                <a:spcPts val="1050"/>
              </a:lnSpc>
              <a:buSzPct val="100000"/>
              <a:buChar char="•"/>
            </a:pPr>
            <a:r>
              <a:rPr lang="en-US" sz="850" dirty="0">
                <a:solidFill>
                  <a:srgbClr val="313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Batch processing capabilities</a:t>
            </a:r>
            <a:endParaRPr lang="en-US" sz="850" dirty="0"/>
          </a:p>
          <a:p>
            <a:pPr marL="342900" indent="-342900" algn="l">
              <a:lnSpc>
                <a:spcPts val="1050"/>
              </a:lnSpc>
              <a:buSzPct val="100000"/>
              <a:buChar char="•"/>
            </a:pPr>
            <a:r>
              <a:rPr lang="en-US" sz="850" dirty="0">
                <a:solidFill>
                  <a:srgbClr val="313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GPU acceleration support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7461171" y="2914412"/>
            <a:ext cx="2193608" cy="212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b="1" dirty="0">
                <a:solidFill>
                  <a:srgbClr val="31388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Performance Comparison: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7461171" y="3183731"/>
            <a:ext cx="3774400" cy="6036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050"/>
              </a:lnSpc>
              <a:buSzPct val="100000"/>
              <a:buChar char="•"/>
            </a:pPr>
            <a:r>
              <a:rPr lang="en-US" sz="850" dirty="0">
                <a:solidFill>
                  <a:srgbClr val="313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DehazeNet: Higher accuracy, moderate speed</a:t>
            </a:r>
            <a:endParaRPr lang="en-US" sz="850" dirty="0"/>
          </a:p>
          <a:p>
            <a:pPr marL="342900" indent="-342900" algn="l">
              <a:lnSpc>
                <a:spcPts val="1050"/>
              </a:lnSpc>
              <a:buSzPct val="100000"/>
              <a:buChar char="•"/>
            </a:pPr>
            <a:r>
              <a:rPr lang="en-US" sz="850" dirty="0">
                <a:solidFill>
                  <a:srgbClr val="313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AOD-Net: Faster processing, good quality</a:t>
            </a:r>
            <a:endParaRPr lang="en-US" sz="850" dirty="0"/>
          </a:p>
          <a:p>
            <a:pPr marL="342900" indent="-342900" algn="l">
              <a:lnSpc>
                <a:spcPts val="1050"/>
              </a:lnSpc>
              <a:buSzPct val="100000"/>
              <a:buChar char="•"/>
            </a:pPr>
            <a:r>
              <a:rPr lang="en-US" sz="850" dirty="0">
                <a:solidFill>
                  <a:srgbClr val="313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Traditional DCP: Baseline comparison</a:t>
            </a:r>
            <a:endParaRPr lang="en-US" sz="850" dirty="0"/>
          </a:p>
          <a:p>
            <a:pPr marL="342900" indent="-342900" algn="l">
              <a:lnSpc>
                <a:spcPts val="1050"/>
              </a:lnSpc>
              <a:buSzPct val="100000"/>
              <a:buChar char="•"/>
            </a:pPr>
            <a:r>
              <a:rPr lang="en-US" sz="850" dirty="0">
                <a:solidFill>
                  <a:srgbClr val="313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Hybrid approach: Best of both worlds</a:t>
            </a:r>
            <a:endParaRPr lang="en-US" sz="850" dirty="0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18109" y="3870841"/>
            <a:ext cx="6794183" cy="3743563"/>
          </a:xfrm>
          <a:prstGeom prst="rect">
            <a:avLst/>
          </a:prstGeom>
        </p:spPr>
      </p:pic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89883" y="4001497"/>
            <a:ext cx="2441488" cy="3482252"/>
          </a:xfrm>
          <a:prstGeom prst="rect">
            <a:avLst/>
          </a:prstGeom>
        </p:spPr>
      </p:pic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34558" y="5593208"/>
            <a:ext cx="352138" cy="28171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4083920" y="4393128"/>
            <a:ext cx="1283346" cy="2200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31388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DehazeNet</a:t>
            </a:r>
            <a:endParaRPr lang="en-US" sz="1350" dirty="0"/>
          </a:p>
        </p:txBody>
      </p:sp>
      <p:sp>
        <p:nvSpPr>
          <p:cNvPr id="22" name="Text 16"/>
          <p:cNvSpPr/>
          <p:nvPr/>
        </p:nvSpPr>
        <p:spPr>
          <a:xfrm>
            <a:off x="4083920" y="4675816"/>
            <a:ext cx="1283346" cy="10564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1100" dirty="0">
                <a:solidFill>
                  <a:srgbClr val="313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Input → Conv1 (multi-scale) → Maxout+ReLU → Conv2 → Conv3 → Transmission Estimation → Guided Filter → Scene Radiance</a:t>
            </a:r>
            <a:endParaRPr lang="en-US" sz="1100" dirty="0"/>
          </a:p>
        </p:txBody>
      </p:sp>
      <p:sp>
        <p:nvSpPr>
          <p:cNvPr id="23" name="Text 17"/>
          <p:cNvSpPr/>
          <p:nvPr/>
        </p:nvSpPr>
        <p:spPr>
          <a:xfrm>
            <a:off x="9256433" y="5488668"/>
            <a:ext cx="1283347" cy="2200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31388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AOD-Net</a:t>
            </a:r>
            <a:endParaRPr lang="en-US" sz="1350" dirty="0"/>
          </a:p>
        </p:txBody>
      </p:sp>
      <p:sp>
        <p:nvSpPr>
          <p:cNvPr id="24" name="Text 18"/>
          <p:cNvSpPr/>
          <p:nvPr/>
        </p:nvSpPr>
        <p:spPr>
          <a:xfrm>
            <a:off x="9256433" y="5771356"/>
            <a:ext cx="1283347" cy="10564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1100" dirty="0">
                <a:solidFill>
                  <a:srgbClr val="313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Input → Shallow Conv Block → Feature Fusion → Joint Transmission &amp; Atmosphere Estimation → Reconstruction → Fast Output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3402449" y="7678103"/>
            <a:ext cx="7825502" cy="2721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313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diagram visualizes the layer-by-layer structure and data flow for both networks so engineers can compare model depth, inference path, and where transmission/atmospheric light estimation occurs.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02449" y="311825"/>
            <a:ext cx="1084183" cy="176689"/>
          </a:xfrm>
          <a:prstGeom prst="roundRect">
            <a:avLst>
              <a:gd name="adj" fmla="val 21567"/>
            </a:avLst>
          </a:prstGeom>
          <a:solidFill>
            <a:srgbClr val="E3F1DA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3470434" y="354806"/>
            <a:ext cx="90726" cy="9072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606522" y="345758"/>
            <a:ext cx="812125" cy="1088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50"/>
              </a:lnSpc>
              <a:buNone/>
            </a:pPr>
            <a:r>
              <a:rPr lang="en-US" sz="700" dirty="0">
                <a:solidFill>
                  <a:srgbClr val="313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CORE ALGORITHM</a:t>
            </a:r>
            <a:endParaRPr lang="en-US" sz="700" dirty="0"/>
          </a:p>
        </p:txBody>
      </p:sp>
      <p:sp>
        <p:nvSpPr>
          <p:cNvPr id="5" name="Text 2"/>
          <p:cNvSpPr/>
          <p:nvPr/>
        </p:nvSpPr>
        <p:spPr>
          <a:xfrm>
            <a:off x="3402449" y="511135"/>
            <a:ext cx="497169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1388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DARK CHANNEL PRIOR ALGORITHM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3402449" y="888087"/>
            <a:ext cx="2167890" cy="212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b="1" dirty="0">
                <a:solidFill>
                  <a:srgbClr val="31388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Mathematical Foundation: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3402449" y="1185743"/>
            <a:ext cx="7825502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endParaRPr lang="en-US" sz="10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02449" y="1185743"/>
            <a:ext cx="7825502" cy="192881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402449" y="1450300"/>
            <a:ext cx="7825502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313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Where:</a:t>
            </a:r>
            <a:endParaRPr lang="en-US" sz="850" dirty="0"/>
          </a:p>
        </p:txBody>
      </p:sp>
      <p:sp>
        <p:nvSpPr>
          <p:cNvPr id="10" name="Text 6"/>
          <p:cNvSpPr/>
          <p:nvPr/>
        </p:nvSpPr>
        <p:spPr>
          <a:xfrm>
            <a:off x="3402449" y="1650087"/>
            <a:ext cx="7825502" cy="75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050"/>
              </a:lnSpc>
              <a:buSzPct val="100000"/>
              <a:buChar char="•"/>
            </a:pPr>
            <a:r>
              <a:rPr lang="en-US" sz="850" dirty="0">
                <a:solidFill>
                  <a:srgbClr val="313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J(x) = Recovered scene radiance (dehazed image)</a:t>
            </a:r>
            <a:endParaRPr lang="en-US" sz="850" dirty="0"/>
          </a:p>
          <a:p>
            <a:pPr marL="342900" indent="-342900" algn="l">
              <a:lnSpc>
                <a:spcPts val="1050"/>
              </a:lnSpc>
              <a:buSzPct val="100000"/>
              <a:buChar char="•"/>
            </a:pPr>
            <a:r>
              <a:rPr lang="en-US" sz="850" dirty="0">
                <a:solidFill>
                  <a:srgbClr val="313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I(x) = Observed hazy image</a:t>
            </a:r>
            <a:endParaRPr lang="en-US" sz="850" dirty="0"/>
          </a:p>
          <a:p>
            <a:pPr marL="342900" indent="-342900" algn="l">
              <a:lnSpc>
                <a:spcPts val="1050"/>
              </a:lnSpc>
              <a:buSzPct val="100000"/>
              <a:buChar char="•"/>
            </a:pPr>
            <a:r>
              <a:rPr lang="en-US" sz="850" dirty="0">
                <a:solidFill>
                  <a:srgbClr val="313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= Atmospheric light</a:t>
            </a:r>
            <a:endParaRPr lang="en-US" sz="850" dirty="0"/>
          </a:p>
          <a:p>
            <a:pPr marL="342900" indent="-342900" algn="l">
              <a:lnSpc>
                <a:spcPts val="1050"/>
              </a:lnSpc>
              <a:buSzPct val="100000"/>
              <a:buChar char="•"/>
            </a:pPr>
            <a:r>
              <a:rPr lang="en-US" sz="850" dirty="0">
                <a:solidFill>
                  <a:srgbClr val="313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t(x) = Transmission map</a:t>
            </a:r>
            <a:endParaRPr lang="en-US" sz="850" dirty="0"/>
          </a:p>
          <a:p>
            <a:pPr marL="342900" indent="-342900" algn="l">
              <a:lnSpc>
                <a:spcPts val="1050"/>
              </a:lnSpc>
              <a:buSzPct val="100000"/>
              <a:buChar char="•"/>
            </a:pPr>
            <a:r>
              <a:rPr lang="en-US" sz="850" dirty="0">
                <a:solidFill>
                  <a:srgbClr val="313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t₀ = Minimum transmission threshold</a:t>
            </a:r>
            <a:endParaRPr lang="en-US" sz="850" dirty="0"/>
          </a:p>
        </p:txBody>
      </p:sp>
      <p:sp>
        <p:nvSpPr>
          <p:cNvPr id="11" name="Text 7"/>
          <p:cNvSpPr/>
          <p:nvPr/>
        </p:nvSpPr>
        <p:spPr>
          <a:xfrm>
            <a:off x="3402449" y="2494598"/>
            <a:ext cx="1872734" cy="212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b="1" dirty="0">
                <a:solidFill>
                  <a:srgbClr val="31388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Implementation Steps: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3402449" y="2792254"/>
            <a:ext cx="7825502" cy="75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050"/>
              </a:lnSpc>
              <a:buSzPct val="100000"/>
              <a:buFont typeface="+mj-lt"/>
              <a:buAutoNum type="arabicPeriod"/>
            </a:pPr>
            <a:r>
              <a:rPr lang="en-US" sz="850" dirty="0">
                <a:solidFill>
                  <a:srgbClr val="313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Compute dark channel: J_dark(x) = min_c(min_y(J(y)))</a:t>
            </a:r>
            <a:endParaRPr lang="en-US" sz="850" dirty="0"/>
          </a:p>
          <a:p>
            <a:pPr marL="342900" indent="-342900" algn="l">
              <a:lnSpc>
                <a:spcPts val="1050"/>
              </a:lnSpc>
              <a:buSzPct val="100000"/>
              <a:buFont typeface="+mj-lt"/>
              <a:buAutoNum type="arabicPeriod" startAt="2"/>
            </a:pPr>
            <a:r>
              <a:rPr lang="en-US" sz="850" dirty="0">
                <a:solidFill>
                  <a:srgbClr val="313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Estimate atmospheric light from brightest dark pixels</a:t>
            </a:r>
            <a:endParaRPr lang="en-US" sz="850" dirty="0"/>
          </a:p>
          <a:p>
            <a:pPr marL="342900" indent="-342900" algn="l">
              <a:lnSpc>
                <a:spcPts val="1050"/>
              </a:lnSpc>
              <a:buSzPct val="100000"/>
              <a:buFont typeface="+mj-lt"/>
              <a:buAutoNum type="arabicPeriod" startAt="3"/>
            </a:pPr>
            <a:r>
              <a:rPr lang="en-US" sz="850" dirty="0">
                <a:solidFill>
                  <a:srgbClr val="313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Calculate transmission map using normalized image</a:t>
            </a:r>
            <a:endParaRPr lang="en-US" sz="850" dirty="0"/>
          </a:p>
          <a:p>
            <a:pPr marL="342900" indent="-342900" algn="l">
              <a:lnSpc>
                <a:spcPts val="1050"/>
              </a:lnSpc>
              <a:buSzPct val="100000"/>
              <a:buFont typeface="+mj-lt"/>
              <a:buAutoNum type="arabicPeriod" startAt="4"/>
            </a:pPr>
            <a:r>
              <a:rPr lang="en-US" sz="850" dirty="0">
                <a:solidFill>
                  <a:srgbClr val="313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Refine transmission with guided filtering</a:t>
            </a:r>
            <a:endParaRPr lang="en-US" sz="850" dirty="0"/>
          </a:p>
          <a:p>
            <a:pPr marL="342900" indent="-342900" algn="l">
              <a:lnSpc>
                <a:spcPts val="1050"/>
              </a:lnSpc>
              <a:buSzPct val="100000"/>
              <a:buFont typeface="+mj-lt"/>
              <a:buAutoNum type="arabicPeriod" startAt="5"/>
            </a:pPr>
            <a:r>
              <a:rPr lang="en-US" sz="850" dirty="0">
                <a:solidFill>
                  <a:srgbClr val="313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Recover scene radiance using atmospheric model</a:t>
            </a:r>
            <a:endParaRPr lang="en-US" sz="850" dirty="0"/>
          </a:p>
        </p:txBody>
      </p:sp>
      <p:sp>
        <p:nvSpPr>
          <p:cNvPr id="13" name="Text 9"/>
          <p:cNvSpPr/>
          <p:nvPr/>
        </p:nvSpPr>
        <p:spPr>
          <a:xfrm>
            <a:off x="3402449" y="3636764"/>
            <a:ext cx="1701165" cy="212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b="1" dirty="0">
                <a:solidFill>
                  <a:srgbClr val="31388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Optimizations: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3402449" y="3934420"/>
            <a:ext cx="7825502" cy="4477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050"/>
              </a:lnSpc>
              <a:buSzPct val="100000"/>
              <a:buChar char="•"/>
            </a:pPr>
            <a:r>
              <a:rPr lang="en-US" sz="850" dirty="0">
                <a:solidFill>
                  <a:srgbClr val="313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OpenCV erosion for efficient dark channel computation</a:t>
            </a:r>
            <a:endParaRPr lang="en-US" sz="850" dirty="0"/>
          </a:p>
          <a:p>
            <a:pPr marL="342900" indent="-342900" algn="l">
              <a:lnSpc>
                <a:spcPts val="1050"/>
              </a:lnSpc>
              <a:buSzPct val="100000"/>
              <a:buChar char="•"/>
            </a:pPr>
            <a:r>
              <a:rPr lang="en-US" sz="850" dirty="0">
                <a:solidFill>
                  <a:srgbClr val="313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Guided filtering for smooth transmission maps</a:t>
            </a:r>
            <a:endParaRPr lang="en-US" sz="850" dirty="0"/>
          </a:p>
          <a:p>
            <a:pPr marL="342900" indent="-342900" algn="l">
              <a:lnSpc>
                <a:spcPts val="1050"/>
              </a:lnSpc>
              <a:buSzPct val="100000"/>
              <a:buChar char="•"/>
            </a:pPr>
            <a:r>
              <a:rPr lang="en-US" sz="850" dirty="0">
                <a:solidFill>
                  <a:srgbClr val="313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Adaptive thresholding for noise reduction</a:t>
            </a:r>
            <a:endParaRPr lang="en-US" sz="850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92084" y="4445913"/>
            <a:ext cx="6046232" cy="416659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443584" y="7038515"/>
            <a:ext cx="1652233" cy="2200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31388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Input Image</a:t>
            </a:r>
            <a:endParaRPr lang="en-US" sz="1350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7"/>
              </a:ext>
            </a:extLst>
          </a:blip>
          <a:stretch>
            <a:fillRect/>
          </a:stretch>
        </p:blipFill>
        <p:spPr>
          <a:xfrm>
            <a:off x="5149203" y="5977091"/>
            <a:ext cx="391264" cy="39126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851521" y="5288833"/>
            <a:ext cx="1705909" cy="2200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31388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Channel Minima</a:t>
            </a:r>
            <a:endParaRPr lang="en-US" sz="1350" dirty="0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8"/>
              </a:ext>
            </a:extLst>
          </a:blip>
          <a:stretch>
            <a:fillRect/>
          </a:stretch>
        </p:blipFill>
        <p:spPr>
          <a:xfrm>
            <a:off x="6385963" y="6215639"/>
            <a:ext cx="391264" cy="391263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6996701" y="7550948"/>
            <a:ext cx="1652232" cy="2200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31388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Dark Channel</a:t>
            </a:r>
            <a:endParaRPr lang="en-US" sz="1350" dirty="0"/>
          </a:p>
        </p:txBody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10"/>
              </a:ext>
            </a:extLst>
          </a:blip>
          <a:stretch>
            <a:fillRect/>
          </a:stretch>
        </p:blipFill>
        <p:spPr>
          <a:xfrm>
            <a:off x="7622844" y="6454187"/>
            <a:ext cx="391264" cy="391264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8463327" y="5529338"/>
            <a:ext cx="1652232" cy="4401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31388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Estimate &amp; Recover</a:t>
            </a:r>
            <a:endParaRPr lang="en-US" sz="1350" dirty="0"/>
          </a:p>
        </p:txBody>
      </p:sp>
      <p:pic>
        <p:nvPicPr>
          <p:cNvPr id="23" name="Image 6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12"/>
              </a:ext>
            </a:extLst>
          </a:blip>
          <a:stretch>
            <a:fillRect/>
          </a:stretch>
        </p:blipFill>
        <p:spPr>
          <a:xfrm>
            <a:off x="8939201" y="6710343"/>
            <a:ext cx="391264" cy="391263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3402449" y="8676203"/>
            <a:ext cx="7825502" cy="408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313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diagram visualizes the algorithm pipeline: channel-wise minima form the dark channel, morphological erosion yields a robust dark map, bright-pixel selection estimates atmospheric light A, transmission t(x) is computed and refined (guided filter), and the scene radiance J(x) is recovered using the atmospheric scattering model.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02449" y="311825"/>
            <a:ext cx="1093946" cy="176689"/>
          </a:xfrm>
          <a:prstGeom prst="roundRect">
            <a:avLst>
              <a:gd name="adj" fmla="val 21567"/>
            </a:avLst>
          </a:prstGeom>
          <a:solidFill>
            <a:srgbClr val="E3F1DA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3470434" y="354806"/>
            <a:ext cx="90726" cy="9072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606522" y="345758"/>
            <a:ext cx="821888" cy="1088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50"/>
              </a:lnSpc>
              <a:buNone/>
            </a:pPr>
            <a:r>
              <a:rPr lang="en-US" sz="700" dirty="0">
                <a:solidFill>
                  <a:srgbClr val="313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GUIDED FILTERING</a:t>
            </a:r>
            <a:endParaRPr lang="en-US" sz="700" dirty="0"/>
          </a:p>
        </p:txBody>
      </p:sp>
      <p:sp>
        <p:nvSpPr>
          <p:cNvPr id="5" name="Text 2"/>
          <p:cNvSpPr/>
          <p:nvPr/>
        </p:nvSpPr>
        <p:spPr>
          <a:xfrm>
            <a:off x="3402449" y="511135"/>
            <a:ext cx="626042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1388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GUIDED FILTER TRANSMISSION REFINEMENT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3402449" y="888087"/>
            <a:ext cx="1701165" cy="212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b="1" dirty="0">
                <a:solidFill>
                  <a:srgbClr val="31388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Purpose: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3402449" y="1185743"/>
            <a:ext cx="7825502" cy="4477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050"/>
              </a:lnSpc>
              <a:buSzPct val="100000"/>
              <a:buChar char="•"/>
            </a:pPr>
            <a:r>
              <a:rPr lang="en-US" sz="850" dirty="0">
                <a:solidFill>
                  <a:srgbClr val="313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Smooth transmission maps while preserving edges</a:t>
            </a:r>
            <a:endParaRPr lang="en-US" sz="850" dirty="0"/>
          </a:p>
          <a:p>
            <a:pPr marL="342900" indent="-342900" algn="l">
              <a:lnSpc>
                <a:spcPts val="1050"/>
              </a:lnSpc>
              <a:buSzPct val="100000"/>
              <a:buChar char="•"/>
            </a:pPr>
            <a:r>
              <a:rPr lang="en-US" sz="850" dirty="0">
                <a:solidFill>
                  <a:srgbClr val="313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Reduce artifacts and noise in dehazed results</a:t>
            </a:r>
            <a:endParaRPr lang="en-US" sz="850" dirty="0"/>
          </a:p>
          <a:p>
            <a:pPr marL="342900" indent="-342900" algn="l">
              <a:lnSpc>
                <a:spcPts val="1050"/>
              </a:lnSpc>
              <a:buSzPct val="100000"/>
              <a:buChar char="•"/>
            </a:pPr>
            <a:r>
              <a:rPr lang="en-US" sz="850" dirty="0">
                <a:solidFill>
                  <a:srgbClr val="313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Maintain depth information in the image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3402449" y="1718548"/>
            <a:ext cx="1701165" cy="212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b="1" dirty="0">
                <a:solidFill>
                  <a:srgbClr val="31388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Algorithm: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3402449" y="2016204"/>
            <a:ext cx="7825502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endParaRPr lang="en-US" sz="10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02449" y="2016204"/>
            <a:ext cx="7825502" cy="19288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402449" y="2280761"/>
            <a:ext cx="7825502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endParaRPr lang="en-US" sz="10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02449" y="2280761"/>
            <a:ext cx="7825502" cy="192881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402449" y="2545318"/>
            <a:ext cx="7825502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endParaRPr lang="en-US" sz="10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02449" y="2545318"/>
            <a:ext cx="7825502" cy="192881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3402449" y="2809875"/>
            <a:ext cx="7825502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313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Where:</a:t>
            </a:r>
            <a:endParaRPr lang="en-US" sz="850" dirty="0"/>
          </a:p>
        </p:txBody>
      </p:sp>
      <p:sp>
        <p:nvSpPr>
          <p:cNvPr id="16" name="Text 10"/>
          <p:cNvSpPr/>
          <p:nvPr/>
        </p:nvSpPr>
        <p:spPr>
          <a:xfrm>
            <a:off x="3402449" y="3009662"/>
            <a:ext cx="7825502" cy="6036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050"/>
              </a:lnSpc>
              <a:buSzPct val="100000"/>
              <a:buChar char="•"/>
            </a:pPr>
            <a:r>
              <a:rPr lang="en-US" sz="850" dirty="0">
                <a:solidFill>
                  <a:srgbClr val="313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 = Guidance image (grayscale)</a:t>
            </a:r>
            <a:endParaRPr lang="en-US" sz="850" dirty="0"/>
          </a:p>
          <a:p>
            <a:pPr marL="342900" indent="-342900" algn="l">
              <a:lnSpc>
                <a:spcPts val="1050"/>
              </a:lnSpc>
              <a:buSzPct val="100000"/>
              <a:buChar char="•"/>
            </a:pPr>
            <a:r>
              <a:rPr lang="en-US" sz="850" dirty="0">
                <a:solidFill>
                  <a:srgbClr val="313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 = Transmission map</a:t>
            </a:r>
            <a:endParaRPr lang="en-US" sz="850" dirty="0"/>
          </a:p>
          <a:p>
            <a:pPr marL="342900" indent="-342900" algn="l">
              <a:lnSpc>
                <a:spcPts val="1050"/>
              </a:lnSpc>
              <a:buSzPct val="100000"/>
              <a:buChar char="•"/>
            </a:pPr>
            <a:r>
              <a:rPr lang="en-US" sz="850" dirty="0">
                <a:solidFill>
                  <a:srgbClr val="313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 = Refined transmission</a:t>
            </a:r>
            <a:endParaRPr lang="en-US" sz="850" dirty="0"/>
          </a:p>
          <a:p>
            <a:pPr marL="342900" indent="-342900" algn="l">
              <a:lnSpc>
                <a:spcPts val="1050"/>
              </a:lnSpc>
              <a:buSzPct val="100000"/>
              <a:buChar char="•"/>
            </a:pPr>
            <a:r>
              <a:rPr lang="en-US" sz="850" dirty="0">
                <a:solidFill>
                  <a:srgbClr val="313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ε = Regularization parameter</a:t>
            </a:r>
            <a:endParaRPr lang="en-US" sz="850" dirty="0"/>
          </a:p>
        </p:txBody>
      </p:sp>
      <p:sp>
        <p:nvSpPr>
          <p:cNvPr id="17" name="Text 11"/>
          <p:cNvSpPr/>
          <p:nvPr/>
        </p:nvSpPr>
        <p:spPr>
          <a:xfrm>
            <a:off x="3402449" y="3698319"/>
            <a:ext cx="1701165" cy="212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b="1" dirty="0">
                <a:solidFill>
                  <a:srgbClr val="31388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Benefits:</a:t>
            </a:r>
            <a:endParaRPr lang="en-US" sz="1300" dirty="0"/>
          </a:p>
        </p:txBody>
      </p:sp>
      <p:sp>
        <p:nvSpPr>
          <p:cNvPr id="18" name="Text 12"/>
          <p:cNvSpPr/>
          <p:nvPr/>
        </p:nvSpPr>
        <p:spPr>
          <a:xfrm>
            <a:off x="3402449" y="3995976"/>
            <a:ext cx="7825502" cy="6036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050"/>
              </a:lnSpc>
              <a:buSzPct val="100000"/>
              <a:buChar char="•"/>
            </a:pPr>
            <a:r>
              <a:rPr lang="en-US" sz="8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✅</a:t>
            </a:r>
            <a:r>
              <a:rPr lang="en-US" sz="850" dirty="0">
                <a:solidFill>
                  <a:srgbClr val="313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Edge-preserving smoothing</a:t>
            </a:r>
            <a:endParaRPr lang="en-US" sz="850" dirty="0"/>
          </a:p>
          <a:p>
            <a:pPr marL="342900" indent="-342900" algn="l">
              <a:lnSpc>
                <a:spcPts val="1050"/>
              </a:lnSpc>
              <a:buSzPct val="100000"/>
              <a:buChar char="•"/>
            </a:pPr>
            <a:r>
              <a:rPr lang="en-US" sz="8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✅</a:t>
            </a:r>
            <a:r>
              <a:rPr lang="en-US" sz="850" dirty="0">
                <a:solidFill>
                  <a:srgbClr val="313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Computational efficiency</a:t>
            </a:r>
            <a:endParaRPr lang="en-US" sz="850" dirty="0"/>
          </a:p>
          <a:p>
            <a:pPr marL="342900" indent="-342900" algn="l">
              <a:lnSpc>
                <a:spcPts val="1050"/>
              </a:lnSpc>
              <a:buSzPct val="100000"/>
              <a:buChar char="•"/>
            </a:pPr>
            <a:r>
              <a:rPr lang="en-US" sz="8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✅</a:t>
            </a:r>
            <a:r>
              <a:rPr lang="en-US" sz="850" dirty="0">
                <a:solidFill>
                  <a:srgbClr val="313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Artifact reduction</a:t>
            </a:r>
            <a:endParaRPr lang="en-US" sz="850" dirty="0"/>
          </a:p>
          <a:p>
            <a:pPr marL="342900" indent="-342900" algn="l">
              <a:lnSpc>
                <a:spcPts val="1050"/>
              </a:lnSpc>
              <a:buSzPct val="100000"/>
              <a:buChar char="•"/>
            </a:pPr>
            <a:r>
              <a:rPr lang="en-US" sz="8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✅</a:t>
            </a:r>
            <a:r>
              <a:rPr lang="en-US" sz="850" dirty="0">
                <a:solidFill>
                  <a:srgbClr val="313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Better depth preservation</a:t>
            </a:r>
            <a:endParaRPr lang="en-US" sz="850" dirty="0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34715" y="4663321"/>
            <a:ext cx="7760970" cy="3346728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3956929" y="7375384"/>
            <a:ext cx="1760713" cy="2200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Refined Output</a:t>
            </a:r>
            <a:endParaRPr lang="en-US" sz="1350" dirty="0"/>
          </a:p>
        </p:txBody>
      </p:sp>
      <p:sp>
        <p:nvSpPr>
          <p:cNvPr id="21" name="Text 14"/>
          <p:cNvSpPr/>
          <p:nvPr/>
        </p:nvSpPr>
        <p:spPr>
          <a:xfrm>
            <a:off x="3956929" y="6600671"/>
            <a:ext cx="1760713" cy="2200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Guided Filter</a:t>
            </a:r>
            <a:endParaRPr lang="en-US" sz="1350" dirty="0"/>
          </a:p>
        </p:txBody>
      </p:sp>
      <p:sp>
        <p:nvSpPr>
          <p:cNvPr id="22" name="Text 15"/>
          <p:cNvSpPr/>
          <p:nvPr/>
        </p:nvSpPr>
        <p:spPr>
          <a:xfrm>
            <a:off x="3956929" y="5833783"/>
            <a:ext cx="1760713" cy="2200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Guidance</a:t>
            </a:r>
            <a:endParaRPr lang="en-US" sz="1350" dirty="0"/>
          </a:p>
        </p:txBody>
      </p:sp>
      <p:sp>
        <p:nvSpPr>
          <p:cNvPr id="23" name="Text 16"/>
          <p:cNvSpPr/>
          <p:nvPr/>
        </p:nvSpPr>
        <p:spPr>
          <a:xfrm>
            <a:off x="3956929" y="5059069"/>
            <a:ext cx="1760713" cy="2200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Input Images</a:t>
            </a:r>
            <a:endParaRPr lang="en-US" sz="1350" dirty="0"/>
          </a:p>
        </p:txBody>
      </p:sp>
      <p:sp>
        <p:nvSpPr>
          <p:cNvPr id="24" name="Text 17"/>
          <p:cNvSpPr/>
          <p:nvPr/>
        </p:nvSpPr>
        <p:spPr>
          <a:xfrm>
            <a:off x="3402449" y="8073747"/>
            <a:ext cx="7825502" cy="408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313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diagram illustrates the refinement flow: starting from an initial coarse transmission map and a guidance image (grayscale), the guided filter computes linear coefficients (a, b) per local window to produce a refined transmission q that aligns with image edges. The refined transmission reduces haloing and preserves depth discontinuities, producing a cleaner recovered scene radiance.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578048" y="1660922"/>
            <a:ext cx="1972032" cy="281702"/>
          </a:xfrm>
          <a:prstGeom prst="roundRect">
            <a:avLst>
              <a:gd name="adj" fmla="val 19703"/>
            </a:avLst>
          </a:prstGeom>
          <a:solidFill>
            <a:srgbClr val="E3F1DA"/>
          </a:solidFill>
          <a:ln/>
        </p:spPr>
      </p:sp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677108" y="1735693"/>
            <a:ext cx="132040" cy="13204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875109" y="1710452"/>
            <a:ext cx="1575911" cy="1826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313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WEB INTERFACE DESIGN</a:t>
            </a:r>
            <a:endParaRPr lang="en-US" sz="1000" dirty="0"/>
          </a:p>
        </p:txBody>
      </p:sp>
      <p:sp>
        <p:nvSpPr>
          <p:cNvPr id="8" name="Text 3"/>
          <p:cNvSpPr/>
          <p:nvPr/>
        </p:nvSpPr>
        <p:spPr>
          <a:xfrm>
            <a:off x="578048" y="1990725"/>
            <a:ext cx="6942653" cy="5162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050"/>
              </a:lnSpc>
              <a:buNone/>
            </a:pPr>
            <a:r>
              <a:rPr lang="en-US" sz="3250" b="1" dirty="0">
                <a:solidFill>
                  <a:srgbClr val="31388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PROFESSIONAL WEB DASHBOARD</a:t>
            </a:r>
            <a:endParaRPr lang="en-US" sz="3250" dirty="0"/>
          </a:p>
        </p:txBody>
      </p:sp>
      <p:sp>
        <p:nvSpPr>
          <p:cNvPr id="9" name="Text 4"/>
          <p:cNvSpPr/>
          <p:nvPr/>
        </p:nvSpPr>
        <p:spPr>
          <a:xfrm>
            <a:off x="578048" y="2807613"/>
            <a:ext cx="2477810" cy="3096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31388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UI/UX Features:</a:t>
            </a:r>
            <a:endParaRPr lang="en-US" sz="1950" dirty="0"/>
          </a:p>
        </p:txBody>
      </p:sp>
      <p:sp>
        <p:nvSpPr>
          <p:cNvPr id="10" name="Text 5"/>
          <p:cNvSpPr/>
          <p:nvPr/>
        </p:nvSpPr>
        <p:spPr>
          <a:xfrm>
            <a:off x="578048" y="3237548"/>
            <a:ext cx="3792498" cy="15796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300" dirty="0">
                <a:solidFill>
                  <a:srgbClr val="313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Modern, clean interface with Inter font</a:t>
            </a:r>
            <a:endParaRPr lang="en-US" sz="1300" dirty="0"/>
          </a:p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300" dirty="0">
                <a:solidFill>
                  <a:srgbClr val="313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Responsive design for all devices</a:t>
            </a:r>
            <a:endParaRPr lang="en-US" sz="1300" dirty="0"/>
          </a:p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300" dirty="0">
                <a:solidFill>
                  <a:srgbClr val="313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Drag &amp; drop file upload</a:t>
            </a:r>
            <a:endParaRPr lang="en-US" sz="1300" dirty="0"/>
          </a:p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300" dirty="0">
                <a:solidFill>
                  <a:srgbClr val="313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Real-time processing indicators</a:t>
            </a:r>
            <a:endParaRPr lang="en-US" sz="1300" dirty="0"/>
          </a:p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300" dirty="0">
                <a:solidFill>
                  <a:srgbClr val="313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Side-by-side image comparison</a:t>
            </a:r>
            <a:endParaRPr lang="en-US" sz="1300" dirty="0"/>
          </a:p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300" dirty="0">
                <a:solidFill>
                  <a:srgbClr val="313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Professional metrics display</a:t>
            </a:r>
            <a:endParaRPr lang="en-US" sz="1300" dirty="0"/>
          </a:p>
        </p:txBody>
      </p:sp>
      <p:sp>
        <p:nvSpPr>
          <p:cNvPr id="11" name="Text 6"/>
          <p:cNvSpPr/>
          <p:nvPr/>
        </p:nvSpPr>
        <p:spPr>
          <a:xfrm>
            <a:off x="4781074" y="2807613"/>
            <a:ext cx="3208615" cy="3096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31388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Technical Implementation:</a:t>
            </a:r>
            <a:endParaRPr lang="en-US" sz="1950" dirty="0"/>
          </a:p>
        </p:txBody>
      </p:sp>
      <p:sp>
        <p:nvSpPr>
          <p:cNvPr id="12" name="Text 7"/>
          <p:cNvSpPr/>
          <p:nvPr/>
        </p:nvSpPr>
        <p:spPr>
          <a:xfrm>
            <a:off x="4781074" y="3237548"/>
            <a:ext cx="3792498" cy="13093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300" dirty="0">
                <a:solidFill>
                  <a:srgbClr val="313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CSS Grid for responsive layouts</a:t>
            </a:r>
            <a:endParaRPr lang="en-US" sz="1300" dirty="0"/>
          </a:p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300" dirty="0">
                <a:solidFill>
                  <a:srgbClr val="313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CSS custom properties for theming</a:t>
            </a:r>
            <a:endParaRPr lang="en-US" sz="1300" dirty="0"/>
          </a:p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300" dirty="0">
                <a:solidFill>
                  <a:srgbClr val="313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Async/await JavaScript for smooth UX</a:t>
            </a:r>
            <a:endParaRPr lang="en-US" sz="1300" dirty="0"/>
          </a:p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300" dirty="0">
                <a:solidFill>
                  <a:srgbClr val="313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Base64 image encoding for transfers</a:t>
            </a:r>
            <a:endParaRPr lang="en-US" sz="1300" dirty="0"/>
          </a:p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300" dirty="0">
                <a:solidFill>
                  <a:srgbClr val="313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Progressive loading states</a:t>
            </a:r>
            <a:endParaRPr lang="en-US" sz="1300" dirty="0"/>
          </a:p>
        </p:txBody>
      </p:sp>
      <p:sp>
        <p:nvSpPr>
          <p:cNvPr id="13" name="Text 8"/>
          <p:cNvSpPr/>
          <p:nvPr/>
        </p:nvSpPr>
        <p:spPr>
          <a:xfrm>
            <a:off x="578048" y="5039558"/>
            <a:ext cx="2477810" cy="3096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31388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Color Scheme:</a:t>
            </a:r>
            <a:endParaRPr lang="en-US" sz="1950" dirty="0"/>
          </a:p>
        </p:txBody>
      </p:sp>
      <p:sp>
        <p:nvSpPr>
          <p:cNvPr id="14" name="Text 9"/>
          <p:cNvSpPr/>
          <p:nvPr/>
        </p:nvSpPr>
        <p:spPr>
          <a:xfrm>
            <a:off x="578048" y="5529620"/>
            <a:ext cx="7987903" cy="10390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300" dirty="0">
                <a:solidFill>
                  <a:srgbClr val="313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Primary: Blue (</a:t>
            </a:r>
            <a:r>
              <a:rPr lang="en-US" sz="1300" dirty="0">
                <a:solidFill>
                  <a:srgbClr val="3139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#3b82f6</a:t>
            </a:r>
            <a:r>
              <a:rPr lang="en-US" sz="1300" dirty="0">
                <a:solidFill>
                  <a:srgbClr val="313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)</a:t>
            </a:r>
            <a:endParaRPr lang="en-US" sz="1300" dirty="0"/>
          </a:p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300" dirty="0">
                <a:solidFill>
                  <a:srgbClr val="313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Background: Light gray (</a:t>
            </a:r>
            <a:r>
              <a:rPr lang="en-US" sz="1300" dirty="0">
                <a:solidFill>
                  <a:srgbClr val="B4D6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#f8fafc</a:t>
            </a:r>
            <a:r>
              <a:rPr lang="en-US" sz="1300" dirty="0">
                <a:solidFill>
                  <a:srgbClr val="313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)</a:t>
            </a:r>
            <a:endParaRPr lang="en-US" sz="1300" dirty="0"/>
          </a:p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300" dirty="0">
                <a:solidFill>
                  <a:srgbClr val="313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Text: Dark (</a:t>
            </a:r>
            <a:r>
              <a:rPr lang="en-US" sz="1300" dirty="0">
                <a:solidFill>
                  <a:srgbClr val="3139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#0f172a</a:t>
            </a:r>
            <a:r>
              <a:rPr lang="en-US" sz="1300" dirty="0">
                <a:solidFill>
                  <a:srgbClr val="313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)</a:t>
            </a:r>
            <a:endParaRPr lang="en-US" sz="1300" dirty="0"/>
          </a:p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300" dirty="0">
                <a:solidFill>
                  <a:srgbClr val="313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Accent: Success green (</a:t>
            </a:r>
            <a:r>
              <a:rPr lang="en-US" sz="1300" dirty="0">
                <a:solidFill>
                  <a:srgbClr val="73BA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#10b981</a:t>
            </a:r>
            <a:r>
              <a:rPr lang="en-US" sz="1300" dirty="0">
                <a:solidFill>
                  <a:srgbClr val="313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)</a:t>
            </a:r>
            <a:endParaRPr lang="en-US" sz="1300" dirty="0"/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1826" y="346907"/>
            <a:ext cx="3362267" cy="7291917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5642" y="346907"/>
            <a:ext cx="3127226" cy="729191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02449" y="311825"/>
            <a:ext cx="1618059" cy="176689"/>
          </a:xfrm>
          <a:prstGeom prst="roundRect">
            <a:avLst>
              <a:gd name="adj" fmla="val 21567"/>
            </a:avLst>
          </a:prstGeom>
          <a:solidFill>
            <a:srgbClr val="E3F1DA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3470434" y="354806"/>
            <a:ext cx="90726" cy="9072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606522" y="345758"/>
            <a:ext cx="1346002" cy="1088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50"/>
              </a:lnSpc>
              <a:buNone/>
            </a:pPr>
            <a:r>
              <a:rPr lang="en-US" sz="700" dirty="0">
                <a:solidFill>
                  <a:srgbClr val="313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IMAGE QUALITY ASSESSMENT</a:t>
            </a:r>
            <a:endParaRPr lang="en-US" sz="700" dirty="0"/>
          </a:p>
        </p:txBody>
      </p:sp>
      <p:sp>
        <p:nvSpPr>
          <p:cNvPr id="5" name="Text 2"/>
          <p:cNvSpPr/>
          <p:nvPr/>
        </p:nvSpPr>
        <p:spPr>
          <a:xfrm>
            <a:off x="3402449" y="511135"/>
            <a:ext cx="429720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1388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IMAGE QUALITY ASSESSMENT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3402449" y="888087"/>
            <a:ext cx="1701165" cy="212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b="1" dirty="0">
                <a:solidFill>
                  <a:srgbClr val="31388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Calculated Metrics: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3402449" y="1355765"/>
            <a:ext cx="3884414" cy="1074658"/>
          </a:xfrm>
          <a:prstGeom prst="roundRect">
            <a:avLst>
              <a:gd name="adj" fmla="val 6807"/>
            </a:avLst>
          </a:prstGeom>
          <a:solidFill>
            <a:srgbClr val="E8E8E8"/>
          </a:solidFill>
          <a:ln/>
        </p:spPr>
      </p:sp>
      <p:sp>
        <p:nvSpPr>
          <p:cNvPr id="8" name="Shape 5"/>
          <p:cNvSpPr/>
          <p:nvPr/>
        </p:nvSpPr>
        <p:spPr>
          <a:xfrm>
            <a:off x="3402449" y="1340525"/>
            <a:ext cx="3884414" cy="60960"/>
          </a:xfrm>
          <a:prstGeom prst="roundRect">
            <a:avLst>
              <a:gd name="adj" fmla="val 78139"/>
            </a:avLst>
          </a:prstGeom>
          <a:solidFill>
            <a:srgbClr val="73BA45"/>
          </a:solidFill>
          <a:ln/>
        </p:spPr>
      </p:sp>
      <p:sp>
        <p:nvSpPr>
          <p:cNvPr id="9" name="Shape 6"/>
          <p:cNvSpPr/>
          <p:nvPr/>
        </p:nvSpPr>
        <p:spPr>
          <a:xfrm>
            <a:off x="5174516" y="1185743"/>
            <a:ext cx="340162" cy="340162"/>
          </a:xfrm>
          <a:prstGeom prst="roundRect">
            <a:avLst>
              <a:gd name="adj" fmla="val 268813"/>
            </a:avLst>
          </a:prstGeom>
          <a:solidFill>
            <a:srgbClr val="73BA45"/>
          </a:solidFill>
          <a:ln/>
        </p:spPr>
      </p:sp>
      <p:sp>
        <p:nvSpPr>
          <p:cNvPr id="10" name="Text 7"/>
          <p:cNvSpPr/>
          <p:nvPr/>
        </p:nvSpPr>
        <p:spPr>
          <a:xfrm>
            <a:off x="5276552" y="1270754"/>
            <a:ext cx="136088" cy="170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3531037" y="1639253"/>
            <a:ext cx="2383155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31388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PSNR (Peak Signal-to-Noise Ratio)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3531037" y="1850350"/>
            <a:ext cx="3627239" cy="4514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050"/>
              </a:lnSpc>
              <a:buSzPct val="100000"/>
              <a:buChar char="•"/>
            </a:pPr>
            <a:r>
              <a:rPr lang="en-US" sz="850" dirty="0">
                <a:solidFill>
                  <a:srgbClr val="313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Measures overall image quality</a:t>
            </a:r>
            <a:endParaRPr lang="en-US" sz="850" dirty="0"/>
          </a:p>
          <a:p>
            <a:pPr marL="342900" indent="-342900" algn="l">
              <a:lnSpc>
                <a:spcPts val="1050"/>
              </a:lnSpc>
              <a:buSzPct val="100000"/>
              <a:buChar char="•"/>
            </a:pPr>
            <a:r>
              <a:rPr lang="en-US" sz="850" dirty="0">
                <a:solidFill>
                  <a:srgbClr val="313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Higher values indicate better quality</a:t>
            </a:r>
            <a:endParaRPr lang="en-US" sz="850" dirty="0"/>
          </a:p>
          <a:p>
            <a:pPr marL="342900" indent="-342900" algn="l">
              <a:lnSpc>
                <a:spcPts val="1050"/>
              </a:lnSpc>
              <a:buSzPct val="100000"/>
              <a:buChar char="•"/>
            </a:pPr>
            <a:r>
              <a:rPr lang="en-US" sz="850" dirty="0">
                <a:solidFill>
                  <a:srgbClr val="313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Formula: </a:t>
            </a:r>
            <a:r>
              <a:rPr lang="en-US" sz="850" i="1" dirty="0">
                <a:solidFill>
                  <a:srgbClr val="313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 \cdot \log_{10}(\text{MAX\_I} / \sqrt{\text{MSE}})</a:t>
            </a:r>
            <a:endParaRPr lang="en-US" sz="85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87303" y="2157770"/>
            <a:ext cx="330875" cy="119658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7343537" y="1355765"/>
            <a:ext cx="3884414" cy="1074658"/>
          </a:xfrm>
          <a:prstGeom prst="roundRect">
            <a:avLst>
              <a:gd name="adj" fmla="val 6807"/>
            </a:avLst>
          </a:prstGeom>
          <a:solidFill>
            <a:srgbClr val="E8E8E8"/>
          </a:solidFill>
          <a:ln/>
        </p:spPr>
      </p:sp>
      <p:sp>
        <p:nvSpPr>
          <p:cNvPr id="15" name="Shape 11"/>
          <p:cNvSpPr/>
          <p:nvPr/>
        </p:nvSpPr>
        <p:spPr>
          <a:xfrm>
            <a:off x="7343537" y="1340525"/>
            <a:ext cx="3884414" cy="60960"/>
          </a:xfrm>
          <a:prstGeom prst="roundRect">
            <a:avLst>
              <a:gd name="adj" fmla="val 78139"/>
            </a:avLst>
          </a:prstGeom>
          <a:solidFill>
            <a:srgbClr val="73BA45"/>
          </a:solidFill>
          <a:ln/>
        </p:spPr>
      </p:sp>
      <p:sp>
        <p:nvSpPr>
          <p:cNvPr id="16" name="Shape 12"/>
          <p:cNvSpPr/>
          <p:nvPr/>
        </p:nvSpPr>
        <p:spPr>
          <a:xfrm>
            <a:off x="9115604" y="1185743"/>
            <a:ext cx="340162" cy="340162"/>
          </a:xfrm>
          <a:prstGeom prst="roundRect">
            <a:avLst>
              <a:gd name="adj" fmla="val 268813"/>
            </a:avLst>
          </a:prstGeom>
          <a:solidFill>
            <a:srgbClr val="73BA45"/>
          </a:solidFill>
          <a:ln/>
        </p:spPr>
      </p:sp>
      <p:sp>
        <p:nvSpPr>
          <p:cNvPr id="17" name="Text 13"/>
          <p:cNvSpPr/>
          <p:nvPr/>
        </p:nvSpPr>
        <p:spPr>
          <a:xfrm>
            <a:off x="9217640" y="1270754"/>
            <a:ext cx="136088" cy="170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</a:t>
            </a: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7472124" y="1639253"/>
            <a:ext cx="2292906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31388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SSIM (Structural Similarity Index)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7472124" y="1850350"/>
            <a:ext cx="3627239" cy="4477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050"/>
              </a:lnSpc>
              <a:buSzPct val="100000"/>
              <a:buChar char="•"/>
            </a:pPr>
            <a:r>
              <a:rPr lang="en-US" sz="850" dirty="0">
                <a:solidFill>
                  <a:srgbClr val="313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Assesses perceived image quality</a:t>
            </a:r>
            <a:endParaRPr lang="en-US" sz="850" dirty="0"/>
          </a:p>
          <a:p>
            <a:pPr marL="342900" indent="-342900" algn="l">
              <a:lnSpc>
                <a:spcPts val="1050"/>
              </a:lnSpc>
              <a:buSzPct val="100000"/>
              <a:buChar char="•"/>
            </a:pPr>
            <a:r>
              <a:rPr lang="en-US" sz="850" dirty="0">
                <a:solidFill>
                  <a:srgbClr val="313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Considers luminance, contrast, structure</a:t>
            </a:r>
            <a:endParaRPr lang="en-US" sz="850" dirty="0"/>
          </a:p>
          <a:p>
            <a:pPr marL="342900" indent="-342900" algn="l">
              <a:lnSpc>
                <a:spcPts val="1050"/>
              </a:lnSpc>
              <a:buSzPct val="100000"/>
              <a:buChar char="•"/>
            </a:pPr>
            <a:r>
              <a:rPr lang="en-US" sz="850" dirty="0">
                <a:solidFill>
                  <a:srgbClr val="313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Range: -1 to 1 (higher is better)</a:t>
            </a:r>
            <a:endParaRPr lang="en-US" sz="850" dirty="0"/>
          </a:p>
        </p:txBody>
      </p:sp>
      <p:sp>
        <p:nvSpPr>
          <p:cNvPr id="20" name="Shape 16"/>
          <p:cNvSpPr/>
          <p:nvPr/>
        </p:nvSpPr>
        <p:spPr>
          <a:xfrm>
            <a:off x="3402449" y="2657118"/>
            <a:ext cx="3884414" cy="1075492"/>
          </a:xfrm>
          <a:prstGeom prst="roundRect">
            <a:avLst>
              <a:gd name="adj" fmla="val 6802"/>
            </a:avLst>
          </a:prstGeom>
          <a:solidFill>
            <a:srgbClr val="E8E8E8"/>
          </a:solidFill>
          <a:ln/>
        </p:spPr>
      </p:sp>
      <p:sp>
        <p:nvSpPr>
          <p:cNvPr id="21" name="Shape 17"/>
          <p:cNvSpPr/>
          <p:nvPr/>
        </p:nvSpPr>
        <p:spPr>
          <a:xfrm>
            <a:off x="3402449" y="2641878"/>
            <a:ext cx="3884414" cy="60960"/>
          </a:xfrm>
          <a:prstGeom prst="roundRect">
            <a:avLst>
              <a:gd name="adj" fmla="val 78139"/>
            </a:avLst>
          </a:prstGeom>
          <a:solidFill>
            <a:srgbClr val="73BA45"/>
          </a:solidFill>
          <a:ln/>
        </p:spPr>
      </p:sp>
      <p:sp>
        <p:nvSpPr>
          <p:cNvPr id="22" name="Shape 18"/>
          <p:cNvSpPr/>
          <p:nvPr/>
        </p:nvSpPr>
        <p:spPr>
          <a:xfrm>
            <a:off x="5174516" y="2487097"/>
            <a:ext cx="340162" cy="340162"/>
          </a:xfrm>
          <a:prstGeom prst="roundRect">
            <a:avLst>
              <a:gd name="adj" fmla="val 268813"/>
            </a:avLst>
          </a:prstGeom>
          <a:solidFill>
            <a:srgbClr val="73BA45"/>
          </a:solidFill>
          <a:ln/>
        </p:spPr>
      </p:sp>
      <p:sp>
        <p:nvSpPr>
          <p:cNvPr id="23" name="Text 19"/>
          <p:cNvSpPr/>
          <p:nvPr/>
        </p:nvSpPr>
        <p:spPr>
          <a:xfrm>
            <a:off x="5276552" y="2572107"/>
            <a:ext cx="136088" cy="170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</a:t>
            </a:r>
            <a:endParaRPr lang="en-US" sz="1050" dirty="0"/>
          </a:p>
        </p:txBody>
      </p:sp>
      <p:sp>
        <p:nvSpPr>
          <p:cNvPr id="24" name="Text 20"/>
          <p:cNvSpPr/>
          <p:nvPr/>
        </p:nvSpPr>
        <p:spPr>
          <a:xfrm>
            <a:off x="3531037" y="2940606"/>
            <a:ext cx="1833324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31388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MSE (Mean Squared Error)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3531037" y="3151703"/>
            <a:ext cx="3627239" cy="452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050"/>
              </a:lnSpc>
              <a:buSzPct val="100000"/>
              <a:buChar char="•"/>
            </a:pPr>
            <a:r>
              <a:rPr lang="en-US" sz="850" dirty="0">
                <a:solidFill>
                  <a:srgbClr val="313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Measures average squared differences</a:t>
            </a:r>
            <a:endParaRPr lang="en-US" sz="850" dirty="0"/>
          </a:p>
          <a:p>
            <a:pPr marL="342900" indent="-342900" algn="l">
              <a:lnSpc>
                <a:spcPts val="1050"/>
              </a:lnSpc>
              <a:buSzPct val="100000"/>
              <a:buChar char="•"/>
            </a:pPr>
            <a:r>
              <a:rPr lang="en-US" sz="850" dirty="0">
                <a:solidFill>
                  <a:srgbClr val="313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Lower values indicate less distortion</a:t>
            </a:r>
            <a:endParaRPr lang="en-US" sz="850" dirty="0"/>
          </a:p>
          <a:p>
            <a:pPr marL="342900" indent="-342900" algn="l">
              <a:lnSpc>
                <a:spcPts val="1050"/>
              </a:lnSpc>
              <a:buSzPct val="100000"/>
              <a:buChar char="•"/>
            </a:pPr>
            <a:r>
              <a:rPr lang="en-US" sz="850" dirty="0">
                <a:solidFill>
                  <a:srgbClr val="313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Formula: </a:t>
            </a:r>
            <a:r>
              <a:rPr lang="en-US" sz="850" i="1" dirty="0">
                <a:solidFill>
                  <a:srgbClr val="313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(1/mn) \cdot \Sigma[I(i,j) - K(i,j)]^2</a:t>
            </a:r>
            <a:endParaRPr lang="en-US" sz="850" dirty="0"/>
          </a:p>
        </p:txBody>
      </p:sp>
      <p:sp>
        <p:nvSpPr>
          <p:cNvPr id="26" name="Shape 22"/>
          <p:cNvSpPr/>
          <p:nvPr/>
        </p:nvSpPr>
        <p:spPr>
          <a:xfrm>
            <a:off x="7343537" y="2657118"/>
            <a:ext cx="3884414" cy="1075492"/>
          </a:xfrm>
          <a:prstGeom prst="roundRect">
            <a:avLst>
              <a:gd name="adj" fmla="val 6802"/>
            </a:avLst>
          </a:prstGeom>
          <a:solidFill>
            <a:srgbClr val="E8E8E8"/>
          </a:solidFill>
          <a:ln/>
        </p:spPr>
      </p:sp>
      <p:sp>
        <p:nvSpPr>
          <p:cNvPr id="27" name="Shape 23"/>
          <p:cNvSpPr/>
          <p:nvPr/>
        </p:nvSpPr>
        <p:spPr>
          <a:xfrm>
            <a:off x="7343537" y="2641878"/>
            <a:ext cx="3884414" cy="60960"/>
          </a:xfrm>
          <a:prstGeom prst="roundRect">
            <a:avLst>
              <a:gd name="adj" fmla="val 78139"/>
            </a:avLst>
          </a:prstGeom>
          <a:solidFill>
            <a:srgbClr val="73BA45"/>
          </a:solidFill>
          <a:ln/>
        </p:spPr>
      </p:sp>
      <p:sp>
        <p:nvSpPr>
          <p:cNvPr id="28" name="Shape 24"/>
          <p:cNvSpPr/>
          <p:nvPr/>
        </p:nvSpPr>
        <p:spPr>
          <a:xfrm>
            <a:off x="9115604" y="2487097"/>
            <a:ext cx="340162" cy="340162"/>
          </a:xfrm>
          <a:prstGeom prst="roundRect">
            <a:avLst>
              <a:gd name="adj" fmla="val 268813"/>
            </a:avLst>
          </a:prstGeom>
          <a:solidFill>
            <a:srgbClr val="73BA45"/>
          </a:solidFill>
          <a:ln/>
        </p:spPr>
      </p:sp>
      <p:sp>
        <p:nvSpPr>
          <p:cNvPr id="29" name="Text 25"/>
          <p:cNvSpPr/>
          <p:nvPr/>
        </p:nvSpPr>
        <p:spPr>
          <a:xfrm>
            <a:off x="9217640" y="2572107"/>
            <a:ext cx="136088" cy="170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</a:t>
            </a:r>
            <a:endParaRPr lang="en-US" sz="1050" dirty="0"/>
          </a:p>
        </p:txBody>
      </p:sp>
      <p:sp>
        <p:nvSpPr>
          <p:cNvPr id="30" name="Text 26"/>
          <p:cNvSpPr/>
          <p:nvPr/>
        </p:nvSpPr>
        <p:spPr>
          <a:xfrm>
            <a:off x="7472124" y="2940606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31388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Detail Preservation</a:t>
            </a:r>
            <a:endParaRPr lang="en-US" sz="1100" dirty="0"/>
          </a:p>
        </p:txBody>
      </p:sp>
      <p:sp>
        <p:nvSpPr>
          <p:cNvPr id="31" name="Text 27"/>
          <p:cNvSpPr/>
          <p:nvPr/>
        </p:nvSpPr>
        <p:spPr>
          <a:xfrm>
            <a:off x="7472124" y="3151703"/>
            <a:ext cx="3627239" cy="4477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050"/>
              </a:lnSpc>
              <a:buSzPct val="100000"/>
              <a:buChar char="•"/>
            </a:pPr>
            <a:r>
              <a:rPr lang="en-US" sz="850" dirty="0">
                <a:solidFill>
                  <a:srgbClr val="313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Edge preservation assessment</a:t>
            </a:r>
            <a:endParaRPr lang="en-US" sz="850" dirty="0"/>
          </a:p>
          <a:p>
            <a:pPr marL="342900" indent="-342900" algn="l">
              <a:lnSpc>
                <a:spcPts val="1050"/>
              </a:lnSpc>
              <a:buSzPct val="100000"/>
              <a:buChar char="•"/>
            </a:pPr>
            <a:r>
              <a:rPr lang="en-US" sz="850" dirty="0">
                <a:solidFill>
                  <a:srgbClr val="313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Uses Sobel edge detection</a:t>
            </a:r>
            <a:endParaRPr lang="en-US" sz="850" dirty="0"/>
          </a:p>
          <a:p>
            <a:pPr marL="342900" indent="-342900" algn="l">
              <a:lnSpc>
                <a:spcPts val="1050"/>
              </a:lnSpc>
              <a:buSzPct val="100000"/>
              <a:buChar char="•"/>
            </a:pPr>
            <a:r>
              <a:rPr lang="en-US" sz="850" dirty="0">
                <a:solidFill>
                  <a:srgbClr val="313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Correlation-based scoring</a:t>
            </a:r>
            <a:endParaRPr lang="en-US" sz="850" dirty="0"/>
          </a:p>
        </p:txBody>
      </p:sp>
      <p:sp>
        <p:nvSpPr>
          <p:cNvPr id="32" name="Text 28"/>
          <p:cNvSpPr/>
          <p:nvPr/>
        </p:nvSpPr>
        <p:spPr>
          <a:xfrm>
            <a:off x="3402449" y="3817620"/>
            <a:ext cx="1701165" cy="212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b="1" dirty="0">
                <a:solidFill>
                  <a:srgbClr val="31388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Applications:</a:t>
            </a:r>
            <a:endParaRPr lang="en-US" sz="1300" dirty="0"/>
          </a:p>
        </p:txBody>
      </p:sp>
      <p:sp>
        <p:nvSpPr>
          <p:cNvPr id="33" name="Text 29"/>
          <p:cNvSpPr/>
          <p:nvPr/>
        </p:nvSpPr>
        <p:spPr>
          <a:xfrm>
            <a:off x="3402449" y="4115276"/>
            <a:ext cx="7825502" cy="6036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050"/>
              </a:lnSpc>
              <a:buSzPct val="100000"/>
              <a:buChar char="•"/>
            </a:pPr>
            <a:r>
              <a:rPr lang="en-US" sz="850" dirty="0">
                <a:solidFill>
                  <a:srgbClr val="313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Algorithm optimization</a:t>
            </a:r>
            <a:endParaRPr lang="en-US" sz="850" dirty="0"/>
          </a:p>
          <a:p>
            <a:pPr marL="342900" indent="-342900" algn="l">
              <a:lnSpc>
                <a:spcPts val="1050"/>
              </a:lnSpc>
              <a:buSzPct val="100000"/>
              <a:buChar char="•"/>
            </a:pPr>
            <a:r>
              <a:rPr lang="en-US" sz="850" dirty="0">
                <a:solidFill>
                  <a:srgbClr val="313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Parameter tuning</a:t>
            </a:r>
            <a:endParaRPr lang="en-US" sz="850" dirty="0"/>
          </a:p>
          <a:p>
            <a:pPr marL="342900" indent="-342900" algn="l">
              <a:lnSpc>
                <a:spcPts val="1050"/>
              </a:lnSpc>
              <a:buSzPct val="100000"/>
              <a:buChar char="•"/>
            </a:pPr>
            <a:r>
              <a:rPr lang="en-US" sz="850" dirty="0">
                <a:solidFill>
                  <a:srgbClr val="313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Quality assurance</a:t>
            </a:r>
            <a:endParaRPr lang="en-US" sz="850" dirty="0"/>
          </a:p>
          <a:p>
            <a:pPr marL="342900" indent="-342900" algn="l">
              <a:lnSpc>
                <a:spcPts val="1050"/>
              </a:lnSpc>
              <a:buSzPct val="100000"/>
              <a:buChar char="•"/>
            </a:pPr>
            <a:r>
              <a:rPr lang="en-US" sz="850" dirty="0">
                <a:solidFill>
                  <a:srgbClr val="313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Performance benchmarking</a:t>
            </a:r>
            <a:endParaRPr lang="en-US" sz="850" dirty="0"/>
          </a:p>
        </p:txBody>
      </p:sp>
      <p:sp>
        <p:nvSpPr>
          <p:cNvPr id="34" name="Shape 30"/>
          <p:cNvSpPr/>
          <p:nvPr/>
        </p:nvSpPr>
        <p:spPr>
          <a:xfrm>
            <a:off x="3402449" y="4782622"/>
            <a:ext cx="884900" cy="222352"/>
          </a:xfrm>
          <a:prstGeom prst="roundRect">
            <a:avLst>
              <a:gd name="adj" fmla="val 57574"/>
            </a:avLst>
          </a:prstGeom>
          <a:solidFill>
            <a:srgbClr val="FFFFFF">
              <a:alpha val="20000"/>
            </a:srgbClr>
          </a:solidFill>
          <a:ln w="7620">
            <a:solidFill>
              <a:srgbClr val="000000"/>
            </a:solidFill>
            <a:prstDash val="solid"/>
          </a:ln>
        </p:spPr>
      </p:sp>
      <p:pic>
        <p:nvPicPr>
          <p:cNvPr id="35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74528" y="4832015"/>
            <a:ext cx="123564" cy="123564"/>
          </a:xfrm>
          <a:prstGeom prst="rect">
            <a:avLst/>
          </a:prstGeom>
        </p:spPr>
      </p:pic>
      <p:sp>
        <p:nvSpPr>
          <p:cNvPr id="36" name="Text 31"/>
          <p:cNvSpPr/>
          <p:nvPr/>
        </p:nvSpPr>
        <p:spPr>
          <a:xfrm>
            <a:off x="3639281" y="4813513"/>
            <a:ext cx="575990" cy="1605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00" dirty="0">
                <a:solidFill>
                  <a:srgbClr val="313886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PSNR (dB)</a:t>
            </a:r>
            <a:endParaRPr lang="en-US" sz="700" dirty="0"/>
          </a:p>
        </p:txBody>
      </p:sp>
      <p:sp>
        <p:nvSpPr>
          <p:cNvPr id="37" name="Shape 32"/>
          <p:cNvSpPr/>
          <p:nvPr/>
        </p:nvSpPr>
        <p:spPr>
          <a:xfrm>
            <a:off x="4369726" y="4782622"/>
            <a:ext cx="598676" cy="222352"/>
          </a:xfrm>
          <a:prstGeom prst="roundRect">
            <a:avLst>
              <a:gd name="adj" fmla="val 57574"/>
            </a:avLst>
          </a:prstGeom>
          <a:solidFill>
            <a:srgbClr val="FFFFFF">
              <a:alpha val="20000"/>
            </a:srgbClr>
          </a:solidFill>
          <a:ln w="7620">
            <a:solidFill>
              <a:srgbClr val="000000"/>
            </a:solidFill>
            <a:prstDash val="solid"/>
          </a:ln>
        </p:spPr>
      </p:sp>
      <p:pic>
        <p:nvPicPr>
          <p:cNvPr id="38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41805" y="4832015"/>
            <a:ext cx="123565" cy="123564"/>
          </a:xfrm>
          <a:prstGeom prst="rect">
            <a:avLst/>
          </a:prstGeom>
        </p:spPr>
      </p:pic>
      <p:sp>
        <p:nvSpPr>
          <p:cNvPr id="39" name="Text 33"/>
          <p:cNvSpPr/>
          <p:nvPr/>
        </p:nvSpPr>
        <p:spPr>
          <a:xfrm>
            <a:off x="4606557" y="4813513"/>
            <a:ext cx="289765" cy="1605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00" dirty="0">
                <a:solidFill>
                  <a:srgbClr val="313886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SSIM</a:t>
            </a:r>
            <a:endParaRPr lang="en-US" sz="700" dirty="0"/>
          </a:p>
        </p:txBody>
      </p:sp>
      <p:pic>
        <p:nvPicPr>
          <p:cNvPr id="40" name="Image 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02449" y="5107943"/>
            <a:ext cx="7825740" cy="4057029"/>
          </a:xfrm>
          <a:prstGeom prst="rect">
            <a:avLst/>
          </a:prstGeom>
        </p:spPr>
      </p:pic>
      <p:sp>
        <p:nvSpPr>
          <p:cNvPr id="41" name="Text 34"/>
          <p:cNvSpPr/>
          <p:nvPr/>
        </p:nvSpPr>
        <p:spPr>
          <a:xfrm>
            <a:off x="3402449" y="9228534"/>
            <a:ext cx="7825502" cy="2721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313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combo chart shows PSNR (columns) and SSIM (line) across algorithm versions to visualize both signal fidelity and perceived quality. Use these trends to guide parameter tuning and compare trade-offs between objective and perceptual metrics.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02449" y="368618"/>
            <a:ext cx="1689021" cy="176689"/>
          </a:xfrm>
          <a:prstGeom prst="roundRect">
            <a:avLst>
              <a:gd name="adj" fmla="val 21567"/>
            </a:avLst>
          </a:prstGeom>
          <a:solidFill>
            <a:srgbClr val="E3F1DA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3470434" y="411599"/>
            <a:ext cx="90726" cy="9072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606522" y="402550"/>
            <a:ext cx="1416963" cy="1088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50"/>
              </a:lnSpc>
              <a:buNone/>
            </a:pPr>
            <a:r>
              <a:rPr lang="en-US" sz="700" dirty="0">
                <a:solidFill>
                  <a:srgbClr val="313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PERFORMANCE OPTIMIZATIONS</a:t>
            </a:r>
            <a:endParaRPr lang="en-US" sz="700" dirty="0"/>
          </a:p>
        </p:txBody>
      </p:sp>
      <p:sp>
        <p:nvSpPr>
          <p:cNvPr id="5" name="Text 2"/>
          <p:cNvSpPr/>
          <p:nvPr/>
        </p:nvSpPr>
        <p:spPr>
          <a:xfrm>
            <a:off x="3402449" y="567928"/>
            <a:ext cx="402228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1388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OPTIMIZATION TECHNIQUES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3402449" y="1063943"/>
            <a:ext cx="2079069" cy="212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b="1" dirty="0">
                <a:solidFill>
                  <a:srgbClr val="31388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Algorithm Optimizations: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3402449" y="1333262"/>
            <a:ext cx="2424470" cy="7397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050"/>
              </a:lnSpc>
              <a:buSzPct val="100000"/>
              <a:buChar char="•"/>
            </a:pPr>
            <a:r>
              <a:rPr lang="en-US" sz="850" dirty="0">
                <a:solidFill>
                  <a:srgbClr val="313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OpenCV erosion for dark channel computation</a:t>
            </a:r>
            <a:endParaRPr lang="en-US" sz="850" dirty="0"/>
          </a:p>
          <a:p>
            <a:pPr marL="342900" indent="-342900" algn="l">
              <a:lnSpc>
                <a:spcPts val="1050"/>
              </a:lnSpc>
              <a:buSzPct val="100000"/>
              <a:buChar char="•"/>
            </a:pPr>
            <a:r>
              <a:rPr lang="en-US" sz="850" dirty="0">
                <a:solidFill>
                  <a:srgbClr val="313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Vectorized NumPy operations</a:t>
            </a:r>
            <a:endParaRPr lang="en-US" sz="850" dirty="0"/>
          </a:p>
          <a:p>
            <a:pPr marL="342900" indent="-342900" algn="l">
              <a:lnSpc>
                <a:spcPts val="1050"/>
              </a:lnSpc>
              <a:buSzPct val="100000"/>
              <a:buChar char="•"/>
            </a:pPr>
            <a:r>
              <a:rPr lang="en-US" sz="850" dirty="0">
                <a:solidFill>
                  <a:srgbClr val="313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Efficient memory management</a:t>
            </a:r>
            <a:endParaRPr lang="en-US" sz="850" dirty="0"/>
          </a:p>
          <a:p>
            <a:pPr marL="342900" indent="-342900" algn="l">
              <a:lnSpc>
                <a:spcPts val="1050"/>
              </a:lnSpc>
              <a:buSzPct val="100000"/>
              <a:buChar char="•"/>
            </a:pPr>
            <a:r>
              <a:rPr lang="en-US" sz="850" dirty="0">
                <a:solidFill>
                  <a:srgbClr val="313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Optimized guided filtering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6111240" y="1063943"/>
            <a:ext cx="1742718" cy="212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b="1" dirty="0">
                <a:solidFill>
                  <a:srgbClr val="31388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UI/UX Optimizations: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111240" y="1333262"/>
            <a:ext cx="2423755" cy="6036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050"/>
              </a:lnSpc>
              <a:buSzPct val="100000"/>
              <a:buChar char="•"/>
            </a:pPr>
            <a:r>
              <a:rPr lang="en-US" sz="850" dirty="0">
                <a:solidFill>
                  <a:srgbClr val="313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Lazy loading of images</a:t>
            </a:r>
            <a:endParaRPr lang="en-US" sz="850" dirty="0"/>
          </a:p>
          <a:p>
            <a:pPr marL="342900" indent="-342900" algn="l">
              <a:lnSpc>
                <a:spcPts val="1050"/>
              </a:lnSpc>
              <a:buSzPct val="100000"/>
              <a:buChar char="•"/>
            </a:pPr>
            <a:r>
              <a:rPr lang="en-US" sz="850" dirty="0">
                <a:solidFill>
                  <a:srgbClr val="313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Progressive enhancement</a:t>
            </a:r>
            <a:endParaRPr lang="en-US" sz="850" dirty="0"/>
          </a:p>
          <a:p>
            <a:pPr marL="342900" indent="-342900" algn="l">
              <a:lnSpc>
                <a:spcPts val="1050"/>
              </a:lnSpc>
              <a:buSzPct val="100000"/>
              <a:buChar char="•"/>
            </a:pPr>
            <a:r>
              <a:rPr lang="en-US" sz="850" dirty="0">
                <a:solidFill>
                  <a:srgbClr val="313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Efficient base64 encoding</a:t>
            </a:r>
            <a:endParaRPr lang="en-US" sz="850" dirty="0"/>
          </a:p>
          <a:p>
            <a:pPr marL="342900" indent="-342900" algn="l">
              <a:lnSpc>
                <a:spcPts val="1050"/>
              </a:lnSpc>
              <a:buSzPct val="100000"/>
              <a:buChar char="•"/>
            </a:pPr>
            <a:r>
              <a:rPr lang="en-US" sz="850" dirty="0">
                <a:solidFill>
                  <a:srgbClr val="313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Smooth animations and transitions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8819317" y="1063943"/>
            <a:ext cx="1808559" cy="212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b="1" dirty="0">
                <a:solidFill>
                  <a:srgbClr val="31388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Server Optimizations: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819317" y="1333262"/>
            <a:ext cx="2423755" cy="6036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050"/>
              </a:lnSpc>
              <a:buSzPct val="100000"/>
              <a:buChar char="•"/>
            </a:pPr>
            <a:r>
              <a:rPr lang="en-US" sz="850" dirty="0">
                <a:solidFill>
                  <a:srgbClr val="313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Minimal dependencies</a:t>
            </a:r>
            <a:endParaRPr lang="en-US" sz="850" dirty="0"/>
          </a:p>
          <a:p>
            <a:pPr marL="342900" indent="-342900" algn="l">
              <a:lnSpc>
                <a:spcPts val="1050"/>
              </a:lnSpc>
              <a:buSzPct val="100000"/>
              <a:buChar char="•"/>
            </a:pPr>
            <a:r>
              <a:rPr lang="en-US" sz="850" dirty="0">
                <a:solidFill>
                  <a:srgbClr val="313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Efficient file I/O</a:t>
            </a:r>
            <a:endParaRPr lang="en-US" sz="850" dirty="0"/>
          </a:p>
          <a:p>
            <a:pPr marL="342900" indent="-342900" algn="l">
              <a:lnSpc>
                <a:spcPts val="1050"/>
              </a:lnSpc>
              <a:buSzPct val="100000"/>
              <a:buChar char="•"/>
            </a:pPr>
            <a:r>
              <a:rPr lang="en-US" sz="850" dirty="0">
                <a:solidFill>
                  <a:srgbClr val="313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Memory-conscious processing</a:t>
            </a:r>
            <a:endParaRPr lang="en-US" sz="850" dirty="0"/>
          </a:p>
          <a:p>
            <a:pPr marL="342900" indent="-342900" algn="l">
              <a:lnSpc>
                <a:spcPts val="1050"/>
              </a:lnSpc>
              <a:buSzPct val="100000"/>
              <a:buChar char="•"/>
            </a:pPr>
            <a:r>
              <a:rPr lang="en-US" sz="850" dirty="0">
                <a:solidFill>
                  <a:srgbClr val="313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Fast response times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3402449" y="2177772"/>
            <a:ext cx="1701165" cy="212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b="1" dirty="0">
                <a:solidFill>
                  <a:srgbClr val="31388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Results: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3402449" y="2475428"/>
            <a:ext cx="7825502" cy="6036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050"/>
              </a:lnSpc>
              <a:buSzPct val="100000"/>
              <a:buChar char="•"/>
            </a:pPr>
            <a:r>
              <a:rPr lang="en-US" sz="850" dirty="0">
                <a:solidFill>
                  <a:srgbClr val="313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Processing time: &lt; 3 seconds for typical images</a:t>
            </a:r>
            <a:endParaRPr lang="en-US" sz="850" dirty="0"/>
          </a:p>
          <a:p>
            <a:pPr marL="342900" indent="-342900" algn="l">
              <a:lnSpc>
                <a:spcPts val="1050"/>
              </a:lnSpc>
              <a:buSzPct val="100000"/>
              <a:buChar char="•"/>
            </a:pPr>
            <a:r>
              <a:rPr lang="en-US" sz="850" dirty="0">
                <a:solidFill>
                  <a:srgbClr val="313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Memory usage: &lt; 500MB for large images</a:t>
            </a:r>
            <a:endParaRPr lang="en-US" sz="850" dirty="0"/>
          </a:p>
          <a:p>
            <a:pPr marL="342900" indent="-342900" algn="l">
              <a:lnSpc>
                <a:spcPts val="1050"/>
              </a:lnSpc>
              <a:buSzPct val="100000"/>
              <a:buChar char="•"/>
            </a:pPr>
            <a:r>
              <a:rPr lang="en-US" sz="850" dirty="0">
                <a:solidFill>
                  <a:srgbClr val="313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Quality preservation: &gt; 95% detail retention</a:t>
            </a:r>
            <a:endParaRPr lang="en-US" sz="850" dirty="0"/>
          </a:p>
          <a:p>
            <a:pPr marL="342900" indent="-342900" algn="l">
              <a:lnSpc>
                <a:spcPts val="1050"/>
              </a:lnSpc>
              <a:buSzPct val="100000"/>
              <a:buChar char="•"/>
            </a:pPr>
            <a:r>
              <a:rPr lang="en-US" sz="850" dirty="0">
                <a:solidFill>
                  <a:srgbClr val="313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 satisfaction: Professional-grade results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402449" y="3142774"/>
            <a:ext cx="1422116" cy="222351"/>
          </a:xfrm>
          <a:prstGeom prst="roundRect">
            <a:avLst>
              <a:gd name="adj" fmla="val 57574"/>
            </a:avLst>
          </a:prstGeom>
          <a:solidFill>
            <a:srgbClr val="FFFFFF">
              <a:alpha val="20000"/>
            </a:srgbClr>
          </a:solidFill>
          <a:ln w="7620">
            <a:solidFill>
              <a:srgbClr val="000000"/>
            </a:solidFill>
            <a:prstDash val="solid"/>
          </a:ln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74528" y="3192167"/>
            <a:ext cx="123564" cy="12356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639281" y="3173665"/>
            <a:ext cx="1113205" cy="1605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00" dirty="0">
                <a:solidFill>
                  <a:srgbClr val="313886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Processing Time (s)</a:t>
            </a:r>
            <a:endParaRPr lang="en-US" sz="700" dirty="0"/>
          </a:p>
        </p:txBody>
      </p:sp>
      <p:sp>
        <p:nvSpPr>
          <p:cNvPr id="17" name="Shape 13"/>
          <p:cNvSpPr/>
          <p:nvPr/>
        </p:nvSpPr>
        <p:spPr>
          <a:xfrm>
            <a:off x="4906941" y="3142774"/>
            <a:ext cx="1093737" cy="222351"/>
          </a:xfrm>
          <a:prstGeom prst="roundRect">
            <a:avLst>
              <a:gd name="adj" fmla="val 57574"/>
            </a:avLst>
          </a:prstGeom>
          <a:solidFill>
            <a:srgbClr val="FFFFFF">
              <a:alpha val="20000"/>
            </a:srgbClr>
          </a:solidFill>
          <a:ln w="7620">
            <a:solidFill>
              <a:srgbClr val="000000"/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79020" y="3192167"/>
            <a:ext cx="123564" cy="12356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143773" y="3173665"/>
            <a:ext cx="784827" cy="1605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00" dirty="0">
                <a:solidFill>
                  <a:srgbClr val="313886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Memory (MB)</a:t>
            </a:r>
            <a:endParaRPr lang="en-US" sz="700" dirty="0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02449" y="3468095"/>
            <a:ext cx="7825740" cy="405702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3402449" y="7588687"/>
            <a:ext cx="7825502" cy="2721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313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column chart compares processing time and memory usage across optimization stages. Columns represent processing time; use the memory values to understand resource improvements alongside speed gains.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1069538"/>
            <a:ext cx="2608540" cy="426244"/>
          </a:xfrm>
          <a:prstGeom prst="roundRect">
            <a:avLst>
              <a:gd name="adj" fmla="val 17880"/>
            </a:avLst>
          </a:prstGeom>
          <a:solidFill>
            <a:srgbClr val="E3F1DA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929878" y="1191935"/>
            <a:ext cx="181451" cy="18145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2055" y="1137523"/>
            <a:ext cx="2064187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313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PRACTICAL USE CASES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793790" y="1586508"/>
            <a:ext cx="654879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1388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PRACTICAL USE CASES</a:t>
            </a:r>
            <a:endParaRPr lang="en-US" sz="4450" dirty="0"/>
          </a:p>
        </p:txBody>
      </p:sp>
      <p:sp>
        <p:nvSpPr>
          <p:cNvPr id="6" name="Text 3"/>
          <p:cNvSpPr/>
          <p:nvPr/>
        </p:nvSpPr>
        <p:spPr>
          <a:xfrm>
            <a:off x="793790" y="2862263"/>
            <a:ext cx="2845594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31388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Photography:</a:t>
            </a:r>
            <a:endParaRPr lang="en-US" sz="2650" dirty="0"/>
          </a:p>
        </p:txBody>
      </p:sp>
      <p:sp>
        <p:nvSpPr>
          <p:cNvPr id="7" name="Text 4"/>
          <p:cNvSpPr/>
          <p:nvPr/>
        </p:nvSpPr>
        <p:spPr>
          <a:xfrm>
            <a:off x="793790" y="3514368"/>
            <a:ext cx="2845594" cy="35040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13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Landscape photography enhancement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13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Architectural photography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13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Outdoor event photography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13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Travel photo restoration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4200406" y="2862263"/>
            <a:ext cx="2845594" cy="8505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31388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Surveillance &amp; Security:</a:t>
            </a:r>
            <a:endParaRPr lang="en-US" sz="2650" dirty="0"/>
          </a:p>
        </p:txBody>
      </p:sp>
      <p:sp>
        <p:nvSpPr>
          <p:cNvPr id="9" name="Text 6"/>
          <p:cNvSpPr/>
          <p:nvPr/>
        </p:nvSpPr>
        <p:spPr>
          <a:xfrm>
            <a:off x="4200406" y="3939659"/>
            <a:ext cx="2845594" cy="31411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13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CCTV footage enhancement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13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Traffic monitoring systems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13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Security camera clarity improvement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13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Forensic image analysis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7607022" y="2862263"/>
            <a:ext cx="2845594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31388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Automotive:</a:t>
            </a:r>
            <a:endParaRPr lang="en-US" sz="2650" dirty="0"/>
          </a:p>
        </p:txBody>
      </p:sp>
      <p:sp>
        <p:nvSpPr>
          <p:cNvPr id="11" name="Text 8"/>
          <p:cNvSpPr/>
          <p:nvPr/>
        </p:nvSpPr>
        <p:spPr>
          <a:xfrm>
            <a:off x="7607022" y="3514368"/>
            <a:ext cx="2845594" cy="35040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13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Advanced driver-assistance systems (ADAS)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13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Autonomous vehicle navigation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13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Road condition monitoring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13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Weather-adaptive vision systems</a:t>
            </a:r>
            <a:endParaRPr lang="en-US" sz="1750" dirty="0"/>
          </a:p>
        </p:txBody>
      </p:sp>
      <p:sp>
        <p:nvSpPr>
          <p:cNvPr id="12" name="Text 9"/>
          <p:cNvSpPr/>
          <p:nvPr/>
        </p:nvSpPr>
        <p:spPr>
          <a:xfrm>
            <a:off x="11013638" y="2862263"/>
            <a:ext cx="2845594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31388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Aerial &amp; Satellite:</a:t>
            </a:r>
            <a:endParaRPr lang="en-US" sz="2650" dirty="0"/>
          </a:p>
        </p:txBody>
      </p:sp>
      <p:sp>
        <p:nvSpPr>
          <p:cNvPr id="13" name="Text 10"/>
          <p:cNvSpPr/>
          <p:nvPr/>
        </p:nvSpPr>
        <p:spPr>
          <a:xfrm>
            <a:off x="11013638" y="3514368"/>
            <a:ext cx="2845594" cy="31411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13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Drone imagery enhancement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13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Satellite image processing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13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Remote sensing applications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13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Environmental monitoring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1324</Words>
  <Application>Microsoft Office PowerPoint</Application>
  <PresentationFormat>Custom</PresentationFormat>
  <Paragraphs>256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Inter Light</vt:lpstr>
      <vt:lpstr>-apple-system, BlinkMacSystemFont, Segoe UI, Roboto, Helvetica Neue, Arial, sans-serif Medium</vt:lpstr>
      <vt:lpstr>Calibri</vt:lpstr>
      <vt:lpstr>Inter</vt:lpstr>
      <vt:lpstr>Inter 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lastModifiedBy>DELL</cp:lastModifiedBy>
  <cp:revision>5</cp:revision>
  <dcterms:created xsi:type="dcterms:W3CDTF">2026-02-28T10:56:26Z</dcterms:created>
  <dcterms:modified xsi:type="dcterms:W3CDTF">2026-02-28T12:08:41Z</dcterms:modified>
</cp:coreProperties>
</file>