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28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-3-4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5.png"/><Relationship Id="rId7" Type="http://schemas.openxmlformats.org/officeDocument/2006/relationships/image" Target="../media/image-5-6.sv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-5-10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eg"/><Relationship Id="rId5" Type="http://schemas.openxmlformats.org/officeDocument/2006/relationships/image" Target="../media/image-7-4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-9-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2084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5356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 it!!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3335179"/>
            <a:ext cx="46898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Team: Binary Bandits</a:t>
            </a:r>
            <a:endParaRPr lang="en-US" sz="3550" dirty="0"/>
          </a:p>
        </p:txBody>
      </p:sp>
      <p:sp>
        <p:nvSpPr>
          <p:cNvPr id="7" name="Text 3"/>
          <p:cNvSpPr/>
          <p:nvPr/>
        </p:nvSpPr>
        <p:spPr>
          <a:xfrm>
            <a:off x="793790" y="424231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restore clarity to outdoor and aerial photos by removing atmospheric haze while preserving natural color and detail — fast, robust dehazing for photography, remote sensing, and computer vision workflows.</a:t>
            </a:r>
            <a:endParaRPr lang="en-US" sz="17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412" y="1299091"/>
            <a:ext cx="6393988" cy="5886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6769768"/>
            <a:ext cx="7860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By :- </a:t>
            </a:r>
            <a:r>
              <a:rPr lang="en-US" sz="2800" b="1" dirty="0" err="1" smtClean="0"/>
              <a:t>Mohd</a:t>
            </a:r>
            <a:r>
              <a:rPr lang="en-US" sz="2800" b="1" dirty="0" smtClean="0"/>
              <a:t>. </a:t>
            </a:r>
            <a:r>
              <a:rPr lang="en-US" sz="2800" b="1" dirty="0" err="1" smtClean="0"/>
              <a:t>Dayyan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Aaditya</a:t>
            </a:r>
            <a:r>
              <a:rPr lang="en-US" sz="2800" b="1" dirty="0" smtClean="0"/>
              <a:t> Seth and Syed </a:t>
            </a:r>
            <a:r>
              <a:rPr lang="en-US" sz="2800" b="1" dirty="0" err="1" smtClean="0"/>
              <a:t>Aftab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183" y="748546"/>
            <a:ext cx="2240637" cy="359331"/>
          </a:xfrm>
          <a:prstGeom prst="roundRect">
            <a:avLst>
              <a:gd name="adj" fmla="val 18654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40" y="848439"/>
            <a:ext cx="159544" cy="159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7156" y="808315"/>
            <a:ext cx="1762006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183" y="1178004"/>
            <a:ext cx="5600700" cy="62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3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476" y="3043476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8432" y="3366135"/>
            <a:ext cx="2076807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449955" y="2239923"/>
            <a:ext cx="2992279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Goals: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3449955" y="2789277"/>
            <a:ext cx="10489883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atmospheric haze, fog, and smog from digital images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image quality and fine details during dehazing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real-time processing through web interface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professional-grade algorithms for accurate results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449955" y="4348758"/>
            <a:ext cx="2992279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2350" dirty="0"/>
          </a:p>
        </p:txBody>
      </p:sp>
      <p:sp>
        <p:nvSpPr>
          <p:cNvPr id="12" name="Text 8"/>
          <p:cNvSpPr/>
          <p:nvPr/>
        </p:nvSpPr>
        <p:spPr>
          <a:xfrm>
            <a:off x="3449955" y="4898112"/>
            <a:ext cx="10489883" cy="25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DehazeNet Deep Learning Model Implementation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AOD-Net (All-in-One Dehazing Network) Integration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Dark Channel Prior algorithm for traditional processing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Guided filtering for transmission map refinement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Atmospheric light estimation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Scene radiance recovery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Professional metrics calculation (PSNR, SSIM, MSE, Detail Preservation)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17102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11710273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Shape 1"/>
          <p:cNvSpPr/>
          <p:nvPr/>
        </p:nvSpPr>
        <p:spPr>
          <a:xfrm>
            <a:off x="659249" y="311825"/>
            <a:ext cx="1366242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234" y="354806"/>
            <a:ext cx="90726" cy="907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3322" y="345758"/>
            <a:ext cx="1094184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659249" y="511135"/>
            <a:ext cx="3492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59249" y="1007150"/>
            <a:ext cx="188333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Components: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59249" y="1276469"/>
            <a:ext cx="3774400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HTTP Server (http.server, socketserver)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for image processing and filtering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PIL/Pillow for image manipulation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for numerical computations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SciPy for advanced image analysis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Framework Integration (PyTorch/TensorFlow)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DehazeNet Model Architecture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AOD-Net Model for End-to-End Dehazing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4717971" y="1007150"/>
            <a:ext cx="190952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Components: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717971" y="1276469"/>
            <a:ext cx="3774400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HTML5/CSS3 Interface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 with CSS Grid/Flexbox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for client-side interactions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 file upload functionality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feedback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59249" y="260830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Pipeline: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9249" y="290595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59249" y="3083362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16" name="Text 11"/>
          <p:cNvSpPr/>
          <p:nvPr/>
        </p:nvSpPr>
        <p:spPr>
          <a:xfrm>
            <a:off x="659249" y="317051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DehazeNet Deep Learning Processing (Primary)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9249" y="344828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59249" y="3625691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19" name="Text 14"/>
          <p:cNvSpPr/>
          <p:nvPr/>
        </p:nvSpPr>
        <p:spPr>
          <a:xfrm>
            <a:off x="659249" y="371284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AOD-Net End-to-End Dehazing (Alternative)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59249" y="399061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59249" y="4168021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22" name="Text 17"/>
          <p:cNvSpPr/>
          <p:nvPr/>
        </p:nvSpPr>
        <p:spPr>
          <a:xfrm>
            <a:off x="659249" y="425517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Channel Prior Computation (Traditional)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59249" y="453294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59249" y="4710351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25" name="Text 20"/>
          <p:cNvSpPr/>
          <p:nvPr/>
        </p:nvSpPr>
        <p:spPr>
          <a:xfrm>
            <a:off x="659249" y="479750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Atmospheric Light Estimation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59249" y="5075277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59249" y="5252680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28" name="Text 23"/>
          <p:cNvSpPr/>
          <p:nvPr/>
        </p:nvSpPr>
        <p:spPr>
          <a:xfrm>
            <a:off x="659249" y="533983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Transmission Map Calculation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59249" y="5617607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59249" y="5795010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31" name="Text 26"/>
          <p:cNvSpPr/>
          <p:nvPr/>
        </p:nvSpPr>
        <p:spPr>
          <a:xfrm>
            <a:off x="659249" y="588216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Filter Refinement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59249" y="6159937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59249" y="6337340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34" name="Text 29"/>
          <p:cNvSpPr/>
          <p:nvPr/>
        </p:nvSpPr>
        <p:spPr>
          <a:xfrm>
            <a:off x="659249" y="642449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 Radiance Recovery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59249" y="6702266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59249" y="6879669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37" name="Text 32"/>
          <p:cNvSpPr/>
          <p:nvPr/>
        </p:nvSpPr>
        <p:spPr>
          <a:xfrm>
            <a:off x="659249" y="696682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Enhancement &amp; Post-processing</a:t>
            </a:r>
            <a:endParaRPr lang="en-US" sz="8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49" y="7251621"/>
            <a:ext cx="7825502" cy="367486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233385" y="10024344"/>
            <a:ext cx="1717017" cy="21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844194" y="10300022"/>
            <a:ext cx="2106208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uploads image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246956" y="9425296"/>
            <a:ext cx="1717018" cy="214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6246956" y="9700973"/>
            <a:ext cx="2052790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and auth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1233266" y="8879666"/>
            <a:ext cx="1717017" cy="214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Balancer</a:t>
            </a:r>
            <a:endParaRPr lang="en-US" sz="1350" dirty="0"/>
          </a:p>
        </p:txBody>
      </p:sp>
      <p:sp>
        <p:nvSpPr>
          <p:cNvPr id="44" name="Text 38"/>
          <p:cNvSpPr/>
          <p:nvPr/>
        </p:nvSpPr>
        <p:spPr>
          <a:xfrm>
            <a:off x="844075" y="9155343"/>
            <a:ext cx="2106208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 requests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246956" y="8170443"/>
            <a:ext cx="1717018" cy="21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Layer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6246956" y="8446120"/>
            <a:ext cx="2052790" cy="25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 → Algorithms → Deep GPU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1233385" y="7734988"/>
            <a:ext cx="1717017" cy="214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Postprocessing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44194" y="8010665"/>
            <a:ext cx="2106208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metrics and save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659249" y="10990183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visualizes the components, data flow and system layers: client upload, API gateway and load balancer, synchronous API path for real-time processing, async queue for heavy GPU jobs, GPU worker pool for DL models, traditional algorithm module, post-processing and metrics, storage, and monitoring/CI.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390531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1118473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6026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DEHAZENET &amp; AOD-NET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007150"/>
            <a:ext cx="2054543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DehazeNet Architecture: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276469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Convolutional Neural Network for haze removal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Multi-scale feature extraction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trainable dehazing pipeline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on large-scale haze datasets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02449" y="19367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02449" y="2170628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5-layer convolutional architecture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Maxout units for non-linear mapping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Multi-scale feature extraction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 transmission map estimation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61171" y="1007150"/>
            <a:ext cx="341911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AOD-Net (All-in-One Dehazing Network):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61171" y="1276469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model for atmospheric scattering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 estimation of transmission and atmospheric light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architecture for real-time processing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 performance on diverse haze conditions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61171" y="19367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61171" y="2170628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Single-pass dehazing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Compact model design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 inference speed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High-quality results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02449" y="291441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Integration: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02449" y="3183731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PyTorch/TensorFlow backend support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weights loading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processing capabilities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 acceleration support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61171" y="2914412"/>
            <a:ext cx="219360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Comparison: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61171" y="3183731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DehazeNet: Higher accuracy, moderate speed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AOD-Net: Faster processing, good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DCP: Baseline comparison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approach: Best of both worlds</a:t>
            </a:r>
            <a:endParaRPr lang="en-US" sz="8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109" y="3870841"/>
            <a:ext cx="6794183" cy="3743563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883" y="4001497"/>
            <a:ext cx="2441488" cy="3482252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558" y="5593208"/>
            <a:ext cx="352138" cy="2817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83920" y="4393128"/>
            <a:ext cx="1283346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DehazeNet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083920" y="4675816"/>
            <a:ext cx="1283346" cy="1056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Conv1 (multi-scale) → Maxout+ReLU → Conv2 → Conv3 → Transmission Estimation → Guided Filter → Scene Radiance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256433" y="5488668"/>
            <a:ext cx="1283347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AOD-Net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56433" y="5771356"/>
            <a:ext cx="1283347" cy="105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Shallow Conv Block → Feature Fusion → Joint Transmission &amp; Atmosphere Estimation → Reconstruction → Fast Output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402449" y="7678103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visualizes the layer-by-layer structure and data flow for both networks so engineers can compare model depth, inference path, and where transmission/atmospheric light estimation occurs.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084183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812125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ALGORITHM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4971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DARK CHANNEL PRIOR ALGORITHM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888087"/>
            <a:ext cx="216789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Mathematical Foundation: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185743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49" y="1185743"/>
            <a:ext cx="7825502" cy="192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2449" y="145030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Where: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402449" y="1650087"/>
            <a:ext cx="7825502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J(x) = Recovered scene radiance (dehazed image)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I(x) = Observed hazy image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= Atmospheric light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t(x) = Transmission map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t₀ = Minimum transmission threshold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402449" y="2494598"/>
            <a:ext cx="187273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Steps: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02449" y="2792254"/>
            <a:ext cx="7825502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dark channel: J_dark(x) = min_c(min_y(J(y)))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atmospheric light from brightest dark pixels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transmission map using normalized image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transmission with guided filtering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5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scene radiance using atmospheric model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402449" y="363676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Optimizations: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02449" y="3934420"/>
            <a:ext cx="7825502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erosion for efficient dark channel computation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filtering for smooth transmission maps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thresholding for noise reduction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2084" y="4445913"/>
            <a:ext cx="6046232" cy="4166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43584" y="7038515"/>
            <a:ext cx="1652233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Image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9203" y="5977091"/>
            <a:ext cx="391264" cy="3912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1521" y="5288833"/>
            <a:ext cx="1705909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Minima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5963" y="6215639"/>
            <a:ext cx="391264" cy="3912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96701" y="7550948"/>
            <a:ext cx="1652232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Dark Channel</a:t>
            </a:r>
            <a:endParaRPr lang="en-US" sz="13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2844" y="6454187"/>
            <a:ext cx="391264" cy="39126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63327" y="5529338"/>
            <a:ext cx="1652232" cy="44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Estimate &amp; Recover</a:t>
            </a:r>
            <a:endParaRPr lang="en-US" sz="13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39201" y="6710343"/>
            <a:ext cx="391264" cy="39126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402449" y="8676203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visualizes the algorithm pipeline: channel-wise minima form the dark channel, morphological erosion yields a robust dark map, bright-pixel selection estimates atmospheric light A, transmission t(x) is computed and refined (guided filter), and the scene radiance J(x) is recovered using the atmospheric scattering model.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093946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821888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FILTERING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62604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GUIDED FILTER TRANSMISSION REFINEMENT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88808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185743"/>
            <a:ext cx="7825502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transmission maps while preserving edges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artifacts and noise in dehazed results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depth information in the image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02449" y="171854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02449" y="2016204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49" y="2016204"/>
            <a:ext cx="7825502" cy="1928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449" y="2280761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449" y="2280761"/>
            <a:ext cx="7825502" cy="1928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2449" y="2545318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2545318"/>
            <a:ext cx="7825502" cy="1928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02449" y="280987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Where: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3402449" y="3009662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= Guidance image (grayscale)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Transmission map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= Refined transmission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ε = Regularization parameter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3402449" y="3698319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Benefits: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402449" y="3995976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Edge-preserving smoothing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Computational efficiency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Artifact reduction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Better depth preservation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715" y="4663321"/>
            <a:ext cx="7760970" cy="33467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56929" y="7375384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Refined Output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3956929" y="6600671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Guided Filter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956929" y="5833783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Guidance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3956929" y="5059069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Images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3402449" y="8073747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 illustrates the refinement flow: starting from an initial coarse transmission map and a guidance image (grayscale), the guided filter computes linear coefficients (a, b) per local window to produce a refined transmission q that aligns with image edges. The refined transmission reduces haloing and preserves depth discontinuities, producing a cleaner recovered scene radiance.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8048" y="1660922"/>
            <a:ext cx="1972032" cy="281702"/>
          </a:xfrm>
          <a:prstGeom prst="roundRect">
            <a:avLst>
              <a:gd name="adj" fmla="val 19703"/>
            </a:avLst>
          </a:prstGeom>
          <a:solidFill>
            <a:srgbClr val="E3F1D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108" y="1735693"/>
            <a:ext cx="132040" cy="132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5109" y="1710452"/>
            <a:ext cx="1575911" cy="182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INTERFACE DESIGN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78048" y="1990725"/>
            <a:ext cx="6942653" cy="51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WEB DASHBOARD</a:t>
            </a:r>
            <a:endParaRPr lang="en-US" sz="3250" dirty="0"/>
          </a:p>
        </p:txBody>
      </p:sp>
      <p:sp>
        <p:nvSpPr>
          <p:cNvPr id="9" name="Text 4"/>
          <p:cNvSpPr/>
          <p:nvPr/>
        </p:nvSpPr>
        <p:spPr>
          <a:xfrm>
            <a:off x="578048" y="2807613"/>
            <a:ext cx="247781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 Features: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578048" y="3237548"/>
            <a:ext cx="3792498" cy="1579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Modern, clean interface with Inter font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 for all devices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 file upload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indicators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image comparison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metrics display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781074" y="2807613"/>
            <a:ext cx="3208615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Implementation: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4781074" y="3237548"/>
            <a:ext cx="3792498" cy="1309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for responsive layouts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custom properties for theming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Async/await JavaScript for smooth UX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Base64 image encoding for transfers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loading states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78048" y="5039558"/>
            <a:ext cx="247781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Color Scheme: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578048" y="5529620"/>
            <a:ext cx="7987903" cy="1039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Blue (</a:t>
            </a:r>
            <a:r>
              <a:rPr lang="en-US" sz="1300" dirty="0">
                <a:solidFill>
                  <a:srgbClr val="313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#3b82f6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Background: Light gray (</a:t>
            </a:r>
            <a:r>
              <a:rPr lang="en-US" sz="1300" dirty="0">
                <a:solidFill>
                  <a:srgbClr val="B4D6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#f8fafc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Text: Dark (</a:t>
            </a:r>
            <a:r>
              <a:rPr lang="en-US" sz="1300" dirty="0">
                <a:solidFill>
                  <a:srgbClr val="313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#0f172a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Accent: Success green (</a:t>
            </a:r>
            <a:r>
              <a:rPr lang="en-US" sz="1300" dirty="0">
                <a:solidFill>
                  <a:srgbClr val="73B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#10b981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826" y="346907"/>
            <a:ext cx="3362267" cy="72919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642" y="346907"/>
            <a:ext cx="3127226" cy="7291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618059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1346002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QUALITY ASSESSMENT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4297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QUALITY ASSESSMENT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88808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Calculated Metrics: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02449" y="1355765"/>
            <a:ext cx="3884414" cy="1074658"/>
          </a:xfrm>
          <a:prstGeom prst="roundRect">
            <a:avLst>
              <a:gd name="adj" fmla="val 6807"/>
            </a:avLst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3402449" y="1340525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9" name="Shape 6"/>
          <p:cNvSpPr/>
          <p:nvPr/>
        </p:nvSpPr>
        <p:spPr>
          <a:xfrm>
            <a:off x="5174516" y="1185743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10" name="Text 7"/>
          <p:cNvSpPr/>
          <p:nvPr/>
        </p:nvSpPr>
        <p:spPr>
          <a:xfrm>
            <a:off x="5276552" y="1270754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31037" y="1639253"/>
            <a:ext cx="238315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PSNR (Peak Signal-to-Noise Ratio)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31037" y="1850350"/>
            <a:ext cx="3627239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overall image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values indicate better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Formula: </a:t>
            </a:r>
            <a:r>
              <a:rPr lang="en-US" sz="850" i="1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\cdot \log_{10}(\text{MAX\_I} / \sqrt{\text{MSE}})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303" y="2157770"/>
            <a:ext cx="330875" cy="11965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43537" y="1355765"/>
            <a:ext cx="3884414" cy="1074658"/>
          </a:xfrm>
          <a:prstGeom prst="roundRect">
            <a:avLst>
              <a:gd name="adj" fmla="val 6807"/>
            </a:avLst>
          </a:prstGeom>
          <a:solidFill>
            <a:srgbClr val="E8E8E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43537" y="1340525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16" name="Shape 12"/>
          <p:cNvSpPr/>
          <p:nvPr/>
        </p:nvSpPr>
        <p:spPr>
          <a:xfrm>
            <a:off x="9115604" y="1185743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17" name="Text 13"/>
          <p:cNvSpPr/>
          <p:nvPr/>
        </p:nvSpPr>
        <p:spPr>
          <a:xfrm>
            <a:off x="9217640" y="1270754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72124" y="1639253"/>
            <a:ext cx="229290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SSIM (Structural Similarity Index)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72124" y="1850350"/>
            <a:ext cx="3627239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Assesses perceived image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Considers luminance, contrast, structure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Range: -1 to 1 (higher is better)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402449" y="2657118"/>
            <a:ext cx="3884414" cy="1075492"/>
          </a:xfrm>
          <a:prstGeom prst="roundRect">
            <a:avLst>
              <a:gd name="adj" fmla="val 6802"/>
            </a:avLst>
          </a:prstGeom>
          <a:solidFill>
            <a:srgbClr val="E8E8E8"/>
          </a:solidFill>
          <a:ln/>
        </p:spPr>
      </p:sp>
      <p:sp>
        <p:nvSpPr>
          <p:cNvPr id="21" name="Shape 17"/>
          <p:cNvSpPr/>
          <p:nvPr/>
        </p:nvSpPr>
        <p:spPr>
          <a:xfrm>
            <a:off x="3402449" y="2641878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22" name="Shape 18"/>
          <p:cNvSpPr/>
          <p:nvPr/>
        </p:nvSpPr>
        <p:spPr>
          <a:xfrm>
            <a:off x="5174516" y="248709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23" name="Text 19"/>
          <p:cNvSpPr/>
          <p:nvPr/>
        </p:nvSpPr>
        <p:spPr>
          <a:xfrm>
            <a:off x="5276552" y="2572107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531037" y="2940606"/>
            <a:ext cx="183332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MSE (Mean Squared Error)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531037" y="3151703"/>
            <a:ext cx="3627239" cy="45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average squared differences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values indicate less distortion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Formula: </a:t>
            </a:r>
            <a:r>
              <a:rPr lang="en-US" sz="850" i="1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(1/mn) \cdot \Sigma[I(i,j) - K(i,j)]^2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7343537" y="2657118"/>
            <a:ext cx="3884414" cy="1075492"/>
          </a:xfrm>
          <a:prstGeom prst="roundRect">
            <a:avLst>
              <a:gd name="adj" fmla="val 6802"/>
            </a:avLst>
          </a:prstGeom>
          <a:solidFill>
            <a:srgbClr val="E8E8E8"/>
          </a:solidFill>
          <a:ln/>
        </p:spPr>
      </p:sp>
      <p:sp>
        <p:nvSpPr>
          <p:cNvPr id="27" name="Shape 23"/>
          <p:cNvSpPr/>
          <p:nvPr/>
        </p:nvSpPr>
        <p:spPr>
          <a:xfrm>
            <a:off x="7343537" y="2641878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28" name="Shape 24"/>
          <p:cNvSpPr/>
          <p:nvPr/>
        </p:nvSpPr>
        <p:spPr>
          <a:xfrm>
            <a:off x="9115604" y="248709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29" name="Text 25"/>
          <p:cNvSpPr/>
          <p:nvPr/>
        </p:nvSpPr>
        <p:spPr>
          <a:xfrm>
            <a:off x="9217640" y="2572107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472124" y="29406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 Preservation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472124" y="3151703"/>
            <a:ext cx="3627239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preservation assessment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Sobel edge detection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Correlation-based scoring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3402449" y="3817620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Applications: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3402449" y="4115276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optimization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 tuning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benchmarking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402449" y="4782622"/>
            <a:ext cx="884900" cy="222352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528" y="4832015"/>
            <a:ext cx="123564" cy="12356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639281" y="4813513"/>
            <a:ext cx="575990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PSNR (dB)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4369726" y="4782622"/>
            <a:ext cx="598676" cy="222352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1805" y="4832015"/>
            <a:ext cx="123565" cy="12356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4606557" y="4813513"/>
            <a:ext cx="289765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SSIM</a:t>
            </a:r>
            <a:endParaRPr lang="en-US" sz="7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2449" y="5107943"/>
            <a:ext cx="7825740" cy="4057029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402449" y="9228534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combo chart shows PSNR (columns) and SSIM (line) across algorithm versions to visualize both signal fidelity and perceived quality. Use these trends to guide parameter tuning and compare trade-offs between objective and perceptual metrics.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68618"/>
            <a:ext cx="1689021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434" y="411599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402550"/>
            <a:ext cx="1416963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OPTIMIZATIONS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67928"/>
            <a:ext cx="4022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 TECHNIQUES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063943"/>
            <a:ext cx="207906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Optimizations: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333262"/>
            <a:ext cx="2424470" cy="73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erosion for dark channel computation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Vectorized NumPy operations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memory management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guided filtering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11240" y="1063943"/>
            <a:ext cx="174271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 Optimizations: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11240" y="1333262"/>
            <a:ext cx="2423755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loading of images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enhancement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base64 encoding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animations and transitions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819317" y="1063943"/>
            <a:ext cx="180855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 Optimizations: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19317" y="1333262"/>
            <a:ext cx="2423755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dependencies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file I/O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Memory-conscious processing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response times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02449" y="217777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2449" y="2475428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time: &lt; 3 seconds for typical images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usage: &lt; 500MB for large images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preservation: &gt; 95% detail retention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satisfaction: Professional-grade results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02449" y="3142774"/>
            <a:ext cx="1422116" cy="222351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28" y="3192167"/>
            <a:ext cx="123564" cy="1235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9281" y="3173665"/>
            <a:ext cx="1113205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Processing Time (s)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906941" y="3142774"/>
            <a:ext cx="1093737" cy="222351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020" y="3192167"/>
            <a:ext cx="123564" cy="1235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3773" y="3173665"/>
            <a:ext cx="784827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Memory (MB)</a:t>
            </a:r>
            <a:endParaRPr lang="en-US" sz="7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3468095"/>
            <a:ext cx="7825740" cy="40570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02449" y="7588687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column chart compares processing time and memory usage across optimization stages. Columns represent processing time; use the memory values to understand resource improvements alongside speed gains.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69538"/>
            <a:ext cx="2608540" cy="426244"/>
          </a:xfrm>
          <a:prstGeom prst="roundRect">
            <a:avLst>
              <a:gd name="adj" fmla="val 17880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19193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37523"/>
            <a:ext cx="20641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USE CASES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86508"/>
            <a:ext cx="6548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USE CASES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8622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Photography: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90" y="3514368"/>
            <a:ext cx="2845594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Landscape photography enhancement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photography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Outdoor event photography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photo restoration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200406" y="2862263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Surveillance &amp; Security: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200406" y="3939659"/>
            <a:ext cx="2845594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footage enhancement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monitoring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camera clarity improvement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Forensic image analysis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607022" y="28622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Automotive: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607022" y="3514368"/>
            <a:ext cx="2845594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driver-assistance systems (ADAS)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vehicle navigation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condition monitoring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Weather-adaptive vision systems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013638" y="28622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Aerial &amp; Satellite: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11013638" y="3514368"/>
            <a:ext cx="2845594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Drone imagery enhancement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image processing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sensing applications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monitoring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1322</Words>
  <Application>Microsoft Office PowerPoint</Application>
  <PresentationFormat>Custom</PresentationFormat>
  <Paragraphs>256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</vt:lpstr>
      <vt:lpstr>Inter Bold</vt:lpstr>
      <vt:lpstr>-apple-system, BlinkMacSystemFont, Segoe UI, Roboto, Helvetica Neue, Arial, sans-serif Medium</vt:lpstr>
      <vt:lpstr>Inter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3</cp:revision>
  <dcterms:created xsi:type="dcterms:W3CDTF">2026-02-28T10:56:26Z</dcterms:created>
  <dcterms:modified xsi:type="dcterms:W3CDTF">2026-02-28T11:59:44Z</dcterms:modified>
</cp:coreProperties>
</file>